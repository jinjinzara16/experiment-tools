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9" r:id="rId4"/>
    <p:sldId id="260" r:id="rId5"/>
    <p:sldId id="261" r:id="rId6"/>
    <p:sldId id="269" r:id="rId7"/>
    <p:sldId id="262" r:id="rId8"/>
    <p:sldId id="263" r:id="rId9"/>
    <p:sldId id="264" r:id="rId10"/>
    <p:sldId id="271" r:id="rId11"/>
    <p:sldId id="267" r:id="rId12"/>
    <p:sldId id="268" r:id="rId13"/>
    <p:sldId id="265" r:id="rId14"/>
    <p:sldId id="266" r:id="rId15"/>
    <p:sldId id="270" r:id="rId16"/>
    <p:sldId id="272" r:id="rId17"/>
    <p:sldId id="273" r:id="rId18"/>
    <p:sldId id="274" r:id="rId19"/>
    <p:sldId id="278" r:id="rId20"/>
    <p:sldId id="280" r:id="rId21"/>
    <p:sldId id="279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75" r:id="rId31"/>
    <p:sldId id="276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1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CE20F-E016-4DA2-B9A7-52E251B4530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92723-FE33-45CE-84B5-E0C812317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0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92723-FE33-45CE-84B5-E0C812317E1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35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30247-2CCD-9D81-E16A-3D8E0DAFD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F052AE-EE35-E0D0-CC4D-A97702642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81B5D1-4E7C-17EA-73DB-7C3E820A9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FCB6-7127-4EFD-83B5-2176D2388D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0FAF70-3D3B-A2D6-A8DC-3DCF4F6E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2C2768-1CE0-5C78-E98C-113BBCD9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74E2-8041-4283-9FD6-E31C84D98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117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61977-9DB0-409E-ABDF-A63CC1BC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77B1CC-6A67-C2FC-7409-EC030343E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E80E55-A74E-8714-C2E6-60E11B8C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FCB6-7127-4EFD-83B5-2176D2388D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FF40-9DBB-B390-DD2B-4826CAAC5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C2C81B-3D1F-497D-EDBC-B3E16595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74E2-8041-4283-9FD6-E31C84D98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781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5549E-D357-5683-908C-43473D653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D0BE25-7795-3D4A-801D-7A8928270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98B14-ACB6-F139-2976-685550272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FCB6-7127-4EFD-83B5-2176D2388D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73CC41-8E75-616F-78A2-9BF73645D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576845-9B6A-9895-1E01-1D83682C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74E2-8041-4283-9FD6-E31C84D98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003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018DB-3281-BD65-1C82-ABAEE08FD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9CAF36-DC99-3E4E-57B2-B2CCC232C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673C46-A8B3-B10C-D8E2-1DBA2B87A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561E13-5D38-4B70-634D-37151AB3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FCB6-7127-4EFD-83B5-2176D2388D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2652CA-A124-E9A2-8A8B-302B1BC2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A0A1F4-A5BF-0829-C0E4-F353EEB8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74E2-8041-4283-9FD6-E31C84D98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391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6CFF4-58BA-9A21-9280-906AEE60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1512F9-7290-D912-B509-38F403520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E7B22C-1FD6-3BBC-BA3D-B16F0BC21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DA3F89-A837-55DC-232F-E2E090FAB2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A0377A-F607-0815-C99E-C2DCC60EE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061D36-B23C-D3EB-DB2B-9A1234F0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FCB6-7127-4EFD-83B5-2176D2388D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1F1DE8-A420-A887-0CB1-23AE0E48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01A874-72E0-BDC8-284F-6EB2DA14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74E2-8041-4283-9FD6-E31C84D98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02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AD0B7-4CA4-7C17-288A-BF8B1306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B889E0-D734-BF46-D0F8-C118CCB5C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FCB6-7127-4EFD-83B5-2176D2388D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BE7AF5-F298-0A68-351A-DF351856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2E552E-BB61-6427-5EF0-D8B5A32C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74E2-8041-4283-9FD6-E31C84D98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71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8223F8-F750-EBF1-0493-543E2FD1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FCB6-7127-4EFD-83B5-2176D2388D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B98CBA-F994-F4C8-19C7-C664B5F99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AB9F42-E1F4-0339-7B5D-CAD9D335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74E2-8041-4283-9FD6-E31C84D98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25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E433C-7158-AC7C-2649-90BF2A36D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8D467B-7BB7-8BB4-2969-6E62AC031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DA99F3-6CC4-50B3-356C-12B7F8C2D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50F887-78E9-E91F-59DD-E79611628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FCB6-7127-4EFD-83B5-2176D2388D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6A9ACB-864B-2789-706A-22EB007A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B9E70F-2470-D203-CACC-5CE3E0392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74E2-8041-4283-9FD6-E31C84D98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58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5CBE9-5EDC-94AA-2635-1535C5CE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AFA3C3-0722-2D93-C970-92F5F6116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C399D5-9C6E-1A16-F206-F2FAE39FD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2A7CE7-00E0-4612-18E5-F2320369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FCB6-7127-4EFD-83B5-2176D2388D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776B3-E128-52B5-727E-5E025CC72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B2BEF3-622E-F0D6-9782-4FA4F364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74E2-8041-4283-9FD6-E31C84D98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49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62D8A-CCDA-1F37-98A5-848383D4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421B32-CC69-67BD-D5C6-7551C8269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A151A-FE5C-B624-6BEB-AB38FFB0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FCB6-7127-4EFD-83B5-2176D2388D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12ECA1-E5C6-E7E0-2FC8-353BA797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13640B-D5D2-612D-00E5-8AEC0C87F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74E2-8041-4283-9FD6-E31C84D98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99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C21E32-3370-E8D5-CC1E-F9A2488F4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0A0B4A-64EF-5AE9-9BCE-48E9D40AC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A5CA42-52C3-D65E-E5FD-6E8C6931B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FCB6-7127-4EFD-83B5-2176D2388D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39A5A-3D94-4944-41A9-282D12164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DC7D62-9450-7E3B-C098-C60662016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74E2-8041-4283-9FD6-E31C84D98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826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B443887-26C2-8844-B37C-019F31471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0BBA68-6491-06A5-FDC0-E054855BE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6F36DF-EC0E-D8BE-9F56-BC8D2F8B8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DFCB6-7127-4EFD-83B5-2176D2388D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E50076-08E9-48DE-30E0-E1B777F68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EFB519-A982-AEED-1C75-89D85DA98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974E2-8041-4283-9FD6-E31C84D980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80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injinzara16/experiment-tools.g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EEE0E-518B-0965-6AD5-1085AA145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3021"/>
            <a:ext cx="9144000" cy="1047179"/>
          </a:xfrm>
        </p:spPr>
        <p:txBody>
          <a:bodyPr>
            <a:normAutofit/>
          </a:bodyPr>
          <a:lstStyle/>
          <a:p>
            <a:r>
              <a:rPr lang="ko-KR" alt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강화학습개론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A40051-2C0D-7DC7-CA49-A0A33C909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124" y="4366183"/>
            <a:ext cx="11159543" cy="1174952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59</a:t>
            </a:r>
            <a:r>
              <a:rPr lang="ko-KR" altLang="en-US" sz="3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조 </a:t>
            </a:r>
            <a:r>
              <a:rPr lang="en-US" altLang="ko-KR" sz="3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120240559 </a:t>
            </a:r>
            <a:r>
              <a:rPr lang="ko-KR" altLang="en-US" sz="3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전진</a:t>
            </a:r>
            <a:endParaRPr lang="en-US" altLang="ko-KR" sz="3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r>
              <a:rPr lang="en-US" altLang="ko-KR" sz="2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en-US" altLang="ko-KR" sz="28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github</a:t>
            </a:r>
            <a:r>
              <a:rPr lang="en-US" altLang="ko-KR" sz="2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 </a:t>
            </a:r>
            <a:r>
              <a:rPr lang="en-US" altLang="ko-KR" sz="2800" dirty="0">
                <a:latin typeface="KoPub돋움체 Light" panose="02020603020101020101" pitchFamily="18" charset="-127"/>
                <a:ea typeface="KoPub돋움체 Light" panose="02020603020101020101" pitchFamily="18" charset="-127"/>
                <a:hlinkClick r:id="rId2"/>
              </a:rPr>
              <a:t>https://github.com/jinjinzara16/experiment-tools.git</a:t>
            </a:r>
            <a:endParaRPr lang="ko-KR" altLang="en-US" sz="2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951A0-6247-D308-009C-5101CE166F45}"/>
              </a:ext>
            </a:extLst>
          </p:cNvPr>
          <p:cNvSpPr txBox="1"/>
          <p:nvPr/>
        </p:nvSpPr>
        <p:spPr>
          <a:xfrm>
            <a:off x="158496" y="2167116"/>
            <a:ext cx="1187500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8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Enhancing </a:t>
            </a:r>
            <a:r>
              <a:rPr lang="en-US" altLang="ko-KR" sz="3800" dirty="0">
                <a:solidFill>
                  <a:srgbClr val="0070C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AFL</a:t>
            </a:r>
            <a:r>
              <a:rPr lang="en-US" altLang="ko-KR" sz="38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with Reinforcement Learning: </a:t>
            </a:r>
          </a:p>
          <a:p>
            <a:pPr algn="ctr"/>
            <a:r>
              <a:rPr lang="en-US" altLang="ko-KR" sz="38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A </a:t>
            </a:r>
            <a:r>
              <a:rPr lang="en-US" altLang="ko-KR" sz="3800" dirty="0">
                <a:solidFill>
                  <a:srgbClr val="0070C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PPO-Based Seed Mutation Strategy</a:t>
            </a:r>
            <a:endParaRPr lang="ko-KR" altLang="en-US" sz="3800" dirty="0">
              <a:solidFill>
                <a:srgbClr val="0070C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862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A9510-A988-1221-FE12-21DAA61F6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450469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1.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프로젝트 주제 및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B51BB9-8761-E70D-C1EC-8DE31577E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1527048"/>
            <a:ext cx="10948416" cy="18044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프로젝트 주제</a:t>
            </a:r>
            <a:endParaRPr lang="en-US" altLang="ko-KR" sz="3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3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Greybox</a:t>
            </a: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3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fuzzer</a:t>
            </a:r>
            <a:r>
              <a:rPr lang="ko-KR" altLang="en-US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인 </a:t>
            </a: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 </a:t>
            </a: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기반 강화학습을 붙여</a:t>
            </a: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seed </a:t>
            </a:r>
            <a:r>
              <a:rPr lang="ko-KR" altLang="en-US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단위로 </a:t>
            </a: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강도</a:t>
            </a: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·</a:t>
            </a:r>
            <a:r>
              <a:rPr lang="ko-KR" altLang="en-US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깊이를 조정하는 전략을 설계한다</a:t>
            </a:r>
            <a:r>
              <a:rPr lang="en-US" altLang="ko-KR" sz="3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  <a:endParaRPr lang="ko-KR" altLang="en-US" sz="3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50B73BF-AEC9-C285-D9B7-1AEB7486089F}"/>
              </a:ext>
            </a:extLst>
          </p:cNvPr>
          <p:cNvSpPr txBox="1">
            <a:spLocks/>
          </p:cNvSpPr>
          <p:nvPr/>
        </p:nvSpPr>
        <p:spPr>
          <a:xfrm>
            <a:off x="658368" y="3429000"/>
            <a:ext cx="11082528" cy="2731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3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프로젝트 목표</a:t>
            </a:r>
            <a:endParaRPr lang="en-US" altLang="ko-KR" sz="3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 </a:t>
            </a:r>
            <a:r>
              <a:rPr lang="ko-KR" altLang="en-US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내부에서 </a:t>
            </a: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</a:t>
            </a:r>
            <a:r>
              <a:rPr lang="ko-KR" altLang="en-US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상태</a:t>
            </a: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(state)</a:t>
            </a:r>
            <a:r>
              <a:rPr lang="ko-KR" altLang="en-US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추출하고</a:t>
            </a: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PPO agent</a:t>
            </a:r>
            <a:r>
              <a:rPr lang="ko-KR" altLang="en-US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선택한 </a:t>
            </a: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</a:t>
            </a:r>
            <a:r>
              <a:rPr lang="ko-KR" altLang="en-US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 따라</a:t>
            </a: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fuzzing </a:t>
            </a:r>
            <a:r>
              <a:rPr lang="ko-KR" altLang="en-US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스케줄링을 바꾸는 구조를 구현한다</a:t>
            </a:r>
            <a:r>
              <a:rPr lang="en-US" altLang="ko-KR" sz="3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3000" dirty="0"/>
              <a:t>AFL, AFL-PPO, hyperparameter</a:t>
            </a:r>
            <a:r>
              <a:rPr lang="ko-KR" altLang="en-US" sz="3000" dirty="0"/>
              <a:t>를 달리한 </a:t>
            </a:r>
            <a:r>
              <a:rPr lang="en-US" altLang="ko-KR" sz="3000" dirty="0"/>
              <a:t>AFL-PPO</a:t>
            </a:r>
            <a:r>
              <a:rPr lang="ko-KR" altLang="en-US" sz="3000" dirty="0"/>
              <a:t>를 비교하여</a:t>
            </a:r>
            <a:r>
              <a:rPr lang="en-US" altLang="ko-KR" sz="3000" dirty="0"/>
              <a:t>RL</a:t>
            </a:r>
            <a:r>
              <a:rPr lang="ko-KR" altLang="en-US" sz="3000" dirty="0"/>
              <a:t>이 </a:t>
            </a:r>
            <a:r>
              <a:rPr lang="en-US" altLang="ko-KR" sz="3000" dirty="0"/>
              <a:t>coverage·</a:t>
            </a:r>
            <a:r>
              <a:rPr lang="ko-KR" altLang="en-US" sz="3000" dirty="0"/>
              <a:t>성능에 실제로 영향을 주는지 평가한다</a:t>
            </a:r>
            <a:r>
              <a:rPr lang="en-US" altLang="ko-KR" sz="3000" dirty="0"/>
              <a:t>.</a:t>
            </a:r>
            <a:endParaRPr lang="ko-KR" altLang="en-US" sz="3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699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CC3F7-E1A3-13C0-09F6-CF80C736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305830-05CA-5AE5-7F62-655B7C1E7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378586"/>
            <a:ext cx="10695432" cy="2069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Fuzzing </a:t>
            </a:r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이란</a:t>
            </a:r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프로그램에 다양한 입력을 자동으로 만들어 넣어 보면서 </a:t>
            </a:r>
            <a:r>
              <a:rPr lang="ko-KR" altLang="en-US" dirty="0"/>
              <a:t>비정상 동작</a:t>
            </a:r>
            <a:r>
              <a:rPr lang="en-US" altLang="ko-KR" dirty="0"/>
              <a:t>(crash, hang)</a:t>
            </a:r>
            <a:r>
              <a:rPr lang="ko-KR" altLang="en-US" dirty="0"/>
              <a:t>을 발견하는 기법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dirty="0"/>
              <a:t>빠른 탐색을 위해 수십만</a:t>
            </a:r>
            <a:r>
              <a:rPr lang="en-US" altLang="ko-KR" dirty="0"/>
              <a:t>~</a:t>
            </a:r>
            <a:r>
              <a:rPr lang="ko-KR" altLang="en-US" dirty="0"/>
              <a:t>수억 번의 실행을 반복한다</a:t>
            </a:r>
            <a:r>
              <a:rPr lang="en-US" altLang="ko-KR" dirty="0"/>
              <a:t>.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332A199-1F27-DF43-695B-1123A456B081}"/>
              </a:ext>
            </a:extLst>
          </p:cNvPr>
          <p:cNvSpPr txBox="1">
            <a:spLocks/>
          </p:cNvSpPr>
          <p:nvPr/>
        </p:nvSpPr>
        <p:spPr>
          <a:xfrm>
            <a:off x="658368" y="2584703"/>
            <a:ext cx="10695432" cy="3894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Blackbox fuzzing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프로그램 내부 상태를 모르는 채로 입력만 바꿔가며 완전 무작위 탐색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Whitebox fuzzing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프로그램 내부 상태를 아는 상태에서 분기 조건 및 경로를 계산해 정밀 탐색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dirty="0" err="1">
                <a:highlight>
                  <a:srgbClr val="FFFF00"/>
                </a:highlight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Greybox</a:t>
            </a:r>
            <a:r>
              <a:rPr lang="en-US" altLang="ko-KR" dirty="0">
                <a:highlight>
                  <a:srgbClr val="FFFF00"/>
                </a:highlight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fuzzing (AFL</a:t>
            </a:r>
            <a:r>
              <a:rPr lang="ko-KR" altLang="en-US" dirty="0">
                <a:highlight>
                  <a:srgbClr val="FFFF00"/>
                </a:highlight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방식</a:t>
            </a:r>
            <a:r>
              <a:rPr lang="en-US" altLang="ko-KR" dirty="0">
                <a:highlight>
                  <a:srgbClr val="FFFF00"/>
                </a:highlight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, </a:t>
            </a:r>
            <a:r>
              <a:rPr lang="ko-KR" altLang="en-US" dirty="0">
                <a:highlight>
                  <a:srgbClr val="FFFF00"/>
                </a:highlight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본 연구에 사용</a:t>
            </a:r>
            <a:r>
              <a:rPr lang="en-US" altLang="ko-KR" dirty="0">
                <a:highlight>
                  <a:srgbClr val="FFFF00"/>
                </a:highlight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프로그램 내부 상태를 완전히 알 필요는 없지만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테스트에 유용한 일부 관찰 정보 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(instrumentation signal)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사용하여 탐색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ko-KR" altLang="en-US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9039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D8252-75C7-EA36-A166-9F3F6C22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B4C98E-8301-8507-7846-0BD2B8F6B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05645"/>
            <a:ext cx="11180064" cy="1136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6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AFL(American</a:t>
            </a:r>
            <a:r>
              <a:rPr lang="ko-KR" altLang="en-US" sz="26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en-US" altLang="ko-KR" sz="26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Fuzzy</a:t>
            </a:r>
            <a:r>
              <a:rPr lang="ko-KR" altLang="en-US" sz="26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en-US" altLang="ko-KR" sz="26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Lop) </a:t>
            </a:r>
            <a:r>
              <a:rPr lang="ko-KR" altLang="en-US" sz="26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이란</a:t>
            </a:r>
            <a:endParaRPr lang="en-US" altLang="ko-KR" sz="26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2013</a:t>
            </a:r>
            <a:r>
              <a:rPr lang="ko-KR" altLang="en-US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년 </a:t>
            </a:r>
            <a:r>
              <a:rPr lang="en-US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Google</a:t>
            </a:r>
            <a:r>
              <a:rPr lang="ko-KR" altLang="en-US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의 </a:t>
            </a:r>
            <a:r>
              <a:rPr lang="en-US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Michal Zalewski</a:t>
            </a:r>
            <a:r>
              <a:rPr lang="ko-KR" altLang="en-US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개발한 대표적인 </a:t>
            </a:r>
            <a:r>
              <a:rPr lang="en-US" altLang="ko-KR" sz="26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greybox</a:t>
            </a:r>
            <a:r>
              <a:rPr lang="en-US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26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fuzzer</a:t>
            </a:r>
            <a:endParaRPr lang="ko-KR" altLang="en-US" sz="26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83F8B65-5C6E-CCD5-A8A4-C4F28163D9E0}"/>
              </a:ext>
            </a:extLst>
          </p:cNvPr>
          <p:cNvSpPr txBox="1">
            <a:spLocks/>
          </p:cNvSpPr>
          <p:nvPr/>
        </p:nvSpPr>
        <p:spPr>
          <a:xfrm>
            <a:off x="585216" y="5130102"/>
            <a:ext cx="11082528" cy="14222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6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AFL</a:t>
            </a:r>
            <a:r>
              <a:rPr lang="ko-KR" altLang="en-US" sz="26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의 동작 원리</a:t>
            </a:r>
            <a:endParaRPr lang="en-US" altLang="ko-KR" sz="26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➀</a:t>
            </a:r>
            <a:r>
              <a:rPr lang="en-US" altLang="ko-KR" sz="26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내부 </a:t>
            </a:r>
            <a:r>
              <a:rPr lang="en-US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queue(</a:t>
            </a:r>
            <a:r>
              <a:rPr lang="ko-KR" altLang="en-US" sz="26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시드</a:t>
            </a:r>
            <a:r>
              <a:rPr lang="ko-KR" altLang="en-US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corpus)</a:t>
            </a:r>
            <a:r>
              <a:rPr lang="ko-KR" altLang="en-US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에서 하나의 </a:t>
            </a:r>
            <a:r>
              <a:rPr lang="en-US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</a:t>
            </a:r>
            <a:r>
              <a:rPr lang="ko-KR" altLang="en-US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파일을 꺼낸다</a:t>
            </a:r>
            <a:r>
              <a:rPr lang="en-US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  <a:endParaRPr lang="en-US" altLang="ko-KR" sz="26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➁</a:t>
            </a:r>
            <a:r>
              <a:rPr lang="ko-KR" altLang="en-US" sz="26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26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퍼징</a:t>
            </a:r>
            <a:r>
              <a:rPr lang="ko-KR" altLang="en-US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진행 중 </a:t>
            </a:r>
            <a:r>
              <a:rPr lang="en-US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coverage</a:t>
            </a:r>
            <a:r>
              <a:rPr lang="ko-KR" altLang="en-US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확장시키는 데 중요한 </a:t>
            </a:r>
            <a:r>
              <a:rPr lang="en-US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</a:t>
            </a:r>
            <a:r>
              <a:rPr lang="en-US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favored</a:t>
            </a:r>
            <a:r>
              <a:rPr lang="ko-KR" altLang="en-US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로 표시한다</a:t>
            </a:r>
            <a:r>
              <a:rPr lang="en-US" altLang="ko-KR" sz="2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  <a:endParaRPr lang="en-US" altLang="ko-KR" sz="26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pic>
        <p:nvPicPr>
          <p:cNvPr id="6" name="그림 5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0CCBF1-A789-D280-20BA-F90C04FE9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233" y="1442233"/>
            <a:ext cx="5165400" cy="361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7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78D23-F031-C1B7-3348-9A7BA559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EA8A07B-A0D5-EBB7-CF12-1ED13496AAE1}"/>
              </a:ext>
            </a:extLst>
          </p:cNvPr>
          <p:cNvSpPr txBox="1">
            <a:spLocks/>
          </p:cNvSpPr>
          <p:nvPr/>
        </p:nvSpPr>
        <p:spPr>
          <a:xfrm>
            <a:off x="554736" y="3618542"/>
            <a:ext cx="11082528" cy="31139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AFL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의 동작 원리 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이어서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➂ 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선택된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(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돌연변이 생성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 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단계로 들어간다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➃ mutation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된 입력은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instrumented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된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(coverage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정보를 얻기 위해 코드가 삽입된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 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타겟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binary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 전달되며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AFL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은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fork-server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이용해 </a:t>
            </a:r>
            <a:r>
              <a:rPr lang="ko-KR" altLang="en-US" sz="24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퍼징을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시작한다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➄ 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실행된 입력이 어떤 코드 경로를 지나갔는지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coverage bitmap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 표시한다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➅ coverage bitmap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분석해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interesting 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한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판단한다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➆ interesting 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한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queue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 저장하고 앞의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➀~➆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다시 반복한다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6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pic>
        <p:nvPicPr>
          <p:cNvPr id="6" name="그림 5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CFE569-D9D3-09D0-31D9-6519EAE64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300" y="0"/>
            <a:ext cx="5165400" cy="361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49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89FF3-4B4A-95A1-FABD-AC9B903E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CC10B6-D473-E364-C59C-4631D0AF43D4}"/>
              </a:ext>
            </a:extLst>
          </p:cNvPr>
          <p:cNvSpPr txBox="1">
            <a:spLocks/>
          </p:cNvSpPr>
          <p:nvPr/>
        </p:nvSpPr>
        <p:spPr>
          <a:xfrm>
            <a:off x="445008" y="865632"/>
            <a:ext cx="11283696" cy="57979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AFL</a:t>
            </a: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의 한계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은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마다 주는 에너지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(=mutation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반복 횟수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단순한 규칙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(heuristic)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으로 결정한다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→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프로그램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·seed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특성 변화에 적응하지 못함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이로 인한 문제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어떤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잠재력이 큰데 에너지가 부족하고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어떤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의미가 없는데 과도하게 돌게 되는 등 비효율적인 스케줄링이 자주 발생한다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필요성</a:t>
            </a: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(Per-seed adaptive fuzzing)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마다 “얼마나 돌려야 </a:t>
            </a:r>
            <a:r>
              <a:rPr lang="ko-KR" altLang="en-US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효과적인지”는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계속 달라지기 때문에 동적으로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energy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조절하는 방식이 필요하다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PPO</a:t>
            </a: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선택 이유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상태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(coverage,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실행속도 등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입력으로 받으면 그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 강하게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약하게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mutate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할지를 스스로 학습해 결정할 수 있다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PPO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fuzzing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과정에서 점점 더 나은 스케줄링 정책을 학습할 수 있는 구조다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본 연구에서는 이전 페이지 그림에서 ➂ 직전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➆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직전에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RL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개입한다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ko-KR" altLang="en-US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ko-KR" altLang="en-US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ko-KR" altLang="en-US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41CBE6-9F3B-3515-8C9D-35B2A1D7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194437"/>
            <a:ext cx="10515600" cy="671195"/>
          </a:xfrm>
        </p:spPr>
        <p:txBody>
          <a:bodyPr>
            <a:normAutofit/>
          </a:bodyPr>
          <a:lstStyle/>
          <a:p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왜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PPO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를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AFL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에 적용했는가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2633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A16A4-C4BE-9656-7085-19AB4FDC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7050455-95EB-38FA-1E52-F3E320889B51}"/>
              </a:ext>
            </a:extLst>
          </p:cNvPr>
          <p:cNvSpPr txBox="1">
            <a:spLocks/>
          </p:cNvSpPr>
          <p:nvPr/>
        </p:nvSpPr>
        <p:spPr>
          <a:xfrm>
            <a:off x="398457" y="1029317"/>
            <a:ext cx="8095488" cy="2123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➂ mutation (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돌연변이 생성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단계 직전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현재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state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계산해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에게 전달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강도를 결정하는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반환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값에 따라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반복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splicing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횟수 등이 달라짐 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2200" dirty="0">
                <a:highlight>
                  <a:srgbClr val="FFFF00"/>
                </a:highlight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-&gt; seed mutation </a:t>
            </a:r>
            <a:r>
              <a:rPr lang="ko-KR" altLang="en-US" sz="2200" dirty="0">
                <a:highlight>
                  <a:srgbClr val="FFFF00"/>
                </a:highlight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변형 전략 자체를 </a:t>
            </a:r>
            <a:r>
              <a:rPr lang="en-US" altLang="ko-KR" sz="2200" dirty="0">
                <a:highlight>
                  <a:srgbClr val="FFFF00"/>
                </a:highlight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RL</a:t>
            </a:r>
            <a:r>
              <a:rPr lang="ko-KR" altLang="en-US" sz="2200" dirty="0">
                <a:highlight>
                  <a:srgbClr val="FFFF00"/>
                </a:highlight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조절</a:t>
            </a:r>
            <a:endParaRPr lang="en-US" altLang="ko-KR" sz="2200" dirty="0">
              <a:highlight>
                <a:srgbClr val="FFFF00"/>
              </a:highlight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B778F6-E1D0-C060-6D71-7A0FED2F7BBC}"/>
              </a:ext>
            </a:extLst>
          </p:cNvPr>
          <p:cNvSpPr txBox="1"/>
          <p:nvPr/>
        </p:nvSpPr>
        <p:spPr>
          <a:xfrm>
            <a:off x="398457" y="3784145"/>
            <a:ext cx="8595360" cy="307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➆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interesting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queue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 저장하는 단계 직전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이번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의 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perf_score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다음에 선택될 확률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계산하는 순간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선택한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 따라 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perf_score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늘리거나 줄임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값이 바뀌면 해당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queue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에서 다시 선택되는 빈도가 달라짐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highlight>
                  <a:srgbClr val="FFFF00"/>
                </a:highlight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-&gt;seed scheduling(</a:t>
            </a:r>
            <a:r>
              <a:rPr lang="ko-KR" altLang="en-US" sz="2200" dirty="0">
                <a:highlight>
                  <a:srgbClr val="FFFF00"/>
                </a:highlight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우선순위</a:t>
            </a:r>
            <a:r>
              <a:rPr lang="en-US" altLang="ko-KR" sz="2200" dirty="0">
                <a:highlight>
                  <a:srgbClr val="FFFF00"/>
                </a:highlight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  <a:r>
              <a:rPr lang="ko-KR" altLang="en-US" sz="2200" dirty="0">
                <a:highlight>
                  <a:srgbClr val="FFFF00"/>
                </a:highlight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</a:t>
            </a:r>
            <a:r>
              <a:rPr lang="en-US" altLang="ko-KR" sz="2200" dirty="0">
                <a:highlight>
                  <a:srgbClr val="FFFF00"/>
                </a:highlight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RL</a:t>
            </a:r>
            <a:r>
              <a:rPr lang="ko-KR" altLang="en-US" sz="2200" dirty="0">
                <a:highlight>
                  <a:srgbClr val="FFFF00"/>
                </a:highlight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미세 조정</a:t>
            </a:r>
            <a:br>
              <a:rPr lang="ko-KR" altLang="en-US" sz="2200" dirty="0"/>
            </a:br>
            <a:endParaRPr lang="en-US" altLang="ko-KR" sz="2200" dirty="0"/>
          </a:p>
        </p:txBody>
      </p:sp>
      <p:pic>
        <p:nvPicPr>
          <p:cNvPr id="8" name="그림 7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FF917E-C570-CA29-29B7-3864D404C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777" y="1234565"/>
            <a:ext cx="4378365" cy="306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0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F9D04-2851-4C36-8681-E581E8A13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9EC3B-015A-CBFB-065A-2E6A6F7F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194437"/>
            <a:ext cx="10515600" cy="671195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설계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(AFL-PPO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시스템 구조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224BE-DE90-D85D-C17B-688B734FA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128" y="3546480"/>
            <a:ext cx="5145024" cy="3093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전체 구성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내부에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RL client hook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삽입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외부 프로세스로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서버 실행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PyTorch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두 프로세스가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UNIX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도메인 소켓을 통해 상태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보상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/action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교환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Docker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컨테이너 하나가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 + PPO server + target binary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모두 포함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431FB1B-F09E-0B51-6B1D-FB0A5BB908EA}"/>
              </a:ext>
            </a:extLst>
          </p:cNvPr>
          <p:cNvSpPr txBox="1">
            <a:spLocks/>
          </p:cNvSpPr>
          <p:nvPr/>
        </p:nvSpPr>
        <p:spPr>
          <a:xfrm>
            <a:off x="5324856" y="3546480"/>
            <a:ext cx="6784848" cy="309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데이터 흐름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현재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상태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(state)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와 이전 보상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(reward)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서버로 전송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서버는 정책 네트워크를 통해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결정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은 해당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 따라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강도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stage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반복 횟수 등을 조절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fuzzing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결과로 생성된 새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reward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다시 서버에 전달하며 반복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6A40BB-AE50-61A6-BE96-D89B881A92D9}"/>
              </a:ext>
            </a:extLst>
          </p:cNvPr>
          <p:cNvSpPr/>
          <p:nvPr/>
        </p:nvSpPr>
        <p:spPr>
          <a:xfrm>
            <a:off x="615696" y="1645920"/>
            <a:ext cx="2676144" cy="1048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45C545-11EF-EE48-5D56-F6CDBF54B70D}"/>
              </a:ext>
            </a:extLst>
          </p:cNvPr>
          <p:cNvSpPr/>
          <p:nvPr/>
        </p:nvSpPr>
        <p:spPr>
          <a:xfrm>
            <a:off x="5175504" y="1347978"/>
            <a:ext cx="4395216" cy="1480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50A800-E4A6-2997-5999-9CC5E8E0FD56}"/>
              </a:ext>
            </a:extLst>
          </p:cNvPr>
          <p:cNvSpPr txBox="1"/>
          <p:nvPr/>
        </p:nvSpPr>
        <p:spPr>
          <a:xfrm>
            <a:off x="661416" y="1755648"/>
            <a:ext cx="2545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PPO server </a:t>
            </a:r>
          </a:p>
          <a:p>
            <a:r>
              <a:rPr lang="en-US" altLang="ko-KR" dirty="0"/>
              <a:t>-Policy Network (MLP)</a:t>
            </a:r>
          </a:p>
          <a:p>
            <a:r>
              <a:rPr lang="en-US" altLang="ko-KR" dirty="0"/>
              <a:t>-Value Network (MLP)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A01827-CD5E-B5FA-4779-9042F62117A2}"/>
              </a:ext>
            </a:extLst>
          </p:cNvPr>
          <p:cNvSpPr txBox="1"/>
          <p:nvPr/>
        </p:nvSpPr>
        <p:spPr>
          <a:xfrm>
            <a:off x="5303520" y="1511808"/>
            <a:ext cx="4181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Modified AFL</a:t>
            </a:r>
          </a:p>
          <a:p>
            <a:r>
              <a:rPr lang="en-US" altLang="ko-KR" dirty="0"/>
              <a:t>-</a:t>
            </a:r>
            <a:r>
              <a:rPr lang="en-US" altLang="ko-KR" dirty="0" err="1"/>
              <a:t>rl_step</a:t>
            </a:r>
            <a:r>
              <a:rPr lang="en-US" altLang="ko-KR" dirty="0"/>
              <a:t>( )</a:t>
            </a:r>
            <a:r>
              <a:rPr lang="ko-KR" altLang="en-US" dirty="0"/>
              <a:t>로 </a:t>
            </a:r>
            <a:r>
              <a:rPr lang="en-US" altLang="ko-KR" dirty="0"/>
              <a:t>PPO </a:t>
            </a:r>
            <a:r>
              <a:rPr lang="ko-KR" altLang="en-US" dirty="0"/>
              <a:t>서버와 통신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en-US" altLang="ko-KR" dirty="0" err="1"/>
              <a:t>fuzz_one</a:t>
            </a:r>
            <a:r>
              <a:rPr lang="en-US" altLang="ko-KR" dirty="0"/>
              <a:t>( )</a:t>
            </a:r>
            <a:r>
              <a:rPr lang="ko-KR" altLang="en-US" dirty="0"/>
              <a:t>에서 </a:t>
            </a:r>
            <a:r>
              <a:rPr lang="en-US" altLang="ko-KR" dirty="0"/>
              <a:t>mutation </a:t>
            </a:r>
            <a:r>
              <a:rPr lang="ko-KR" altLang="en-US" dirty="0"/>
              <a:t>단계 조절</a:t>
            </a:r>
            <a:endParaRPr lang="en-US" altLang="ko-KR" dirty="0"/>
          </a:p>
          <a:p>
            <a:r>
              <a:rPr lang="en-US" altLang="ko-KR" dirty="0"/>
              <a:t>-reward </a:t>
            </a:r>
            <a:r>
              <a:rPr lang="ko-KR" altLang="en-US" dirty="0"/>
              <a:t>계산 후 서버에 전달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0FA00E-0A1F-B85F-B1B3-E7934D470099}"/>
              </a:ext>
            </a:extLst>
          </p:cNvPr>
          <p:cNvSpPr/>
          <p:nvPr/>
        </p:nvSpPr>
        <p:spPr>
          <a:xfrm>
            <a:off x="10338817" y="1792807"/>
            <a:ext cx="1499616" cy="7210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B4048F-69EC-0ED4-6024-CD4776ABFAAC}"/>
              </a:ext>
            </a:extLst>
          </p:cNvPr>
          <p:cNvSpPr txBox="1"/>
          <p:nvPr/>
        </p:nvSpPr>
        <p:spPr>
          <a:xfrm>
            <a:off x="10402826" y="1865146"/>
            <a:ext cx="1453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Fuzzing</a:t>
            </a:r>
          </a:p>
          <a:p>
            <a:r>
              <a:rPr lang="en-US" altLang="ko-KR" dirty="0"/>
              <a:t>Loop Cycle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3AEBD9E-2943-4EA3-B851-B2A234517ADA}"/>
              </a:ext>
            </a:extLst>
          </p:cNvPr>
          <p:cNvCxnSpPr>
            <a:cxnSpLocks/>
          </p:cNvCxnSpPr>
          <p:nvPr/>
        </p:nvCxnSpPr>
        <p:spPr>
          <a:xfrm>
            <a:off x="9547860" y="2035632"/>
            <a:ext cx="813817" cy="152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BDB7FCC-7330-08F3-F42A-6441ED35DBC4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>
            <a:off x="3291840" y="2088261"/>
            <a:ext cx="1883664" cy="81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609C0AF-12F2-6211-CA38-228A412F82CA}"/>
              </a:ext>
            </a:extLst>
          </p:cNvPr>
          <p:cNvSpPr txBox="1"/>
          <p:nvPr/>
        </p:nvSpPr>
        <p:spPr>
          <a:xfrm>
            <a:off x="3377184" y="1792807"/>
            <a:ext cx="1231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Action (0~3)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04047F-52DB-7261-CB5B-8A9080E44581}"/>
              </a:ext>
            </a:extLst>
          </p:cNvPr>
          <p:cNvSpPr txBox="1"/>
          <p:nvPr/>
        </p:nvSpPr>
        <p:spPr>
          <a:xfrm>
            <a:off x="3896867" y="2182321"/>
            <a:ext cx="1321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State, Reward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0757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B1F38-9365-2E99-54DE-D2EA9500C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77C1C-FC0A-8186-0701-A72F8C30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194437"/>
            <a:ext cx="10515600" cy="671195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설계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(PPO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네트워크 구조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224BDA-6EA6-3F8C-39B7-8F3287B98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4541521"/>
            <a:ext cx="10948416" cy="2316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정책</a:t>
            </a: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/</a:t>
            </a: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가치 네트워크 설계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입력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 AFL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제공하는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상태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8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차원 벡터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두 개의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fully connected layer (64 units each)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사용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Policy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 4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개에 대한 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softmax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확률 출력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Value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단일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scalar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V(s)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출력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  <a:endParaRPr lang="ko-KR" altLang="en-US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5FF037-5543-26BE-063C-4B18902E4C4A}"/>
              </a:ext>
            </a:extLst>
          </p:cNvPr>
          <p:cNvSpPr/>
          <p:nvPr/>
        </p:nvSpPr>
        <p:spPr>
          <a:xfrm>
            <a:off x="5081016" y="1024131"/>
            <a:ext cx="1280160" cy="5114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713CB1-1A69-BB12-1587-1E4DCBF51782}"/>
              </a:ext>
            </a:extLst>
          </p:cNvPr>
          <p:cNvSpPr/>
          <p:nvPr/>
        </p:nvSpPr>
        <p:spPr>
          <a:xfrm>
            <a:off x="4517136" y="1840994"/>
            <a:ext cx="2407920" cy="5114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22B351-FF91-D04E-11CF-A8C013AAB49B}"/>
              </a:ext>
            </a:extLst>
          </p:cNvPr>
          <p:cNvSpPr/>
          <p:nvPr/>
        </p:nvSpPr>
        <p:spPr>
          <a:xfrm>
            <a:off x="4517136" y="2657857"/>
            <a:ext cx="2407920" cy="5114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BB589B-C50B-39D7-E62E-DA6DC3E8AC6C}"/>
              </a:ext>
            </a:extLst>
          </p:cNvPr>
          <p:cNvSpPr/>
          <p:nvPr/>
        </p:nvSpPr>
        <p:spPr>
          <a:xfrm>
            <a:off x="3681984" y="3547198"/>
            <a:ext cx="1757172" cy="908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D4A2E0-1EAF-7FDC-3D9E-1EF16B51E92F}"/>
              </a:ext>
            </a:extLst>
          </p:cNvPr>
          <p:cNvSpPr txBox="1"/>
          <p:nvPr/>
        </p:nvSpPr>
        <p:spPr>
          <a:xfrm>
            <a:off x="5190744" y="1080648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 (8)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597DF0-0865-B021-4F32-ECDAAF0DA0CD}"/>
              </a:ext>
            </a:extLst>
          </p:cNvPr>
          <p:cNvSpPr txBox="1"/>
          <p:nvPr/>
        </p:nvSpPr>
        <p:spPr>
          <a:xfrm>
            <a:off x="4597908" y="1912069"/>
            <a:ext cx="224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Linear (64) + </a:t>
            </a:r>
            <a:r>
              <a:rPr lang="en-US" altLang="ko-KR" dirty="0" err="1"/>
              <a:t>ReLU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F58A0-0DDA-05A7-A571-C84A9EF0C308}"/>
              </a:ext>
            </a:extLst>
          </p:cNvPr>
          <p:cNvSpPr txBox="1"/>
          <p:nvPr/>
        </p:nvSpPr>
        <p:spPr>
          <a:xfrm>
            <a:off x="4629912" y="2723129"/>
            <a:ext cx="224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Linear (64) + </a:t>
            </a:r>
            <a:r>
              <a:rPr lang="en-US" altLang="ko-KR" dirty="0" err="1"/>
              <a:t>ReLU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C03E3-E5A9-3FD1-2044-8464A60B648C}"/>
              </a:ext>
            </a:extLst>
          </p:cNvPr>
          <p:cNvSpPr txBox="1"/>
          <p:nvPr/>
        </p:nvSpPr>
        <p:spPr>
          <a:xfrm>
            <a:off x="3644646" y="3675797"/>
            <a:ext cx="1831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Policy Net</a:t>
            </a:r>
          </a:p>
          <a:p>
            <a:r>
              <a:rPr lang="en-US" altLang="ko-KR" dirty="0"/>
              <a:t>(4-dim </a:t>
            </a:r>
            <a:r>
              <a:rPr lang="en-US" altLang="ko-KR" dirty="0" err="1"/>
              <a:t>softmax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A82857-3A46-AA6D-D149-8A0E395BB63C}"/>
              </a:ext>
            </a:extLst>
          </p:cNvPr>
          <p:cNvSpPr/>
          <p:nvPr/>
        </p:nvSpPr>
        <p:spPr>
          <a:xfrm>
            <a:off x="5874260" y="3556342"/>
            <a:ext cx="1757172" cy="908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C54959-A0DE-F92C-FDAE-C7266A397DC7}"/>
              </a:ext>
            </a:extLst>
          </p:cNvPr>
          <p:cNvSpPr txBox="1"/>
          <p:nvPr/>
        </p:nvSpPr>
        <p:spPr>
          <a:xfrm>
            <a:off x="5960364" y="3687327"/>
            <a:ext cx="1831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Value Net</a:t>
            </a:r>
          </a:p>
          <a:p>
            <a:r>
              <a:rPr lang="en-US" altLang="ko-KR" dirty="0"/>
              <a:t>(1-dim value)</a:t>
            </a:r>
            <a:endParaRPr lang="ko-KR" altLang="en-US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F7536B4-14D8-18A9-72AD-053998DE670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5721096" y="1535612"/>
            <a:ext cx="0" cy="3053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4D85A5-FECE-0A35-021B-FE1B7BDDA1B2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721096" y="2352475"/>
            <a:ext cx="0" cy="3053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496CF5A-743F-D163-9103-FF541AA1B016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4560570" y="3169338"/>
            <a:ext cx="1160526" cy="377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429B1A2-0EF2-6EB7-3464-7B3B1E09F4B2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>
            <a:off x="5721096" y="3169338"/>
            <a:ext cx="1031750" cy="387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990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3764-FA39-862F-CD30-7E53EDD76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F291B-E5E9-C26E-17FF-CDD0CC208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194437"/>
            <a:ext cx="10515600" cy="671195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3.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구현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(AFL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내부 수정 핵심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CF3FDC-7337-CB5E-72B0-4C1E4A6EA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1109473"/>
            <a:ext cx="9875520" cy="3102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수정한 주요 위치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queue_entry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구조체에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fuzzing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단계 추적용 필드 추가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fuzz_one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()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시작에서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RL state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구성 및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요청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calculate_score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()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별로 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perf_score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스케일링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havoc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및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splicing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단계 반복 횟수를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 따라 증가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감소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fuzz_one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()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종료 지점에서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reward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계산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  └&gt; paths </a:t>
            </a:r>
            <a:r>
              <a:rPr lang="ko-KR" altLang="en-US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증가량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 exec </a:t>
            </a:r>
            <a:r>
              <a:rPr lang="ko-KR" altLang="en-US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증가량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 crash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발생 여부 기반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758F56D-7AA3-9916-654C-225FA6E13B8D}"/>
              </a:ext>
            </a:extLst>
          </p:cNvPr>
          <p:cNvSpPr txBox="1">
            <a:spLocks/>
          </p:cNvSpPr>
          <p:nvPr/>
        </p:nvSpPr>
        <p:spPr>
          <a:xfrm>
            <a:off x="585216" y="4553713"/>
            <a:ext cx="9875520" cy="1676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AFL </a:t>
            </a: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실행 시 </a:t>
            </a: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RL </a:t>
            </a: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활성화 조건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환경변수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AFL_RL_SOCK (PPO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서버와 연결할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socket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경로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설정 필요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환경변수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AFL_RL_EFFECT=1 (RL action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실제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단계에 반영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 0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으로 설정하면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RL action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반영하지 않음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설정 필요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1760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72551-9E9B-AE09-C325-3386D6DC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0B023-E79F-51CC-DB97-7A94CD839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194437"/>
            <a:ext cx="10515600" cy="671195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3.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구현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(PPO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서버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F75547-0F26-739B-9C27-40116FEDD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865632"/>
            <a:ext cx="11143488" cy="6095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구현 개요</a:t>
            </a:r>
            <a:endParaRPr lang="en-US" altLang="ko-KR" sz="18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PyTorch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기반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Policy / Value Network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실행하는 독립 서버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과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Unix Socket(AF_UNIX)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으로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step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단위 통신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</a:t>
            </a:r>
          </a:p>
          <a:p>
            <a:pPr marL="0" indent="0">
              <a:buNone/>
            </a:pP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 	AFL →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서버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 state, reward, done</a:t>
            </a:r>
          </a:p>
          <a:p>
            <a:pPr marL="0" indent="0">
              <a:buNone/>
            </a:pP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	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서버 →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AFL: action(0~3)</a:t>
            </a:r>
          </a:p>
          <a:p>
            <a:pPr marL="0" indent="0">
              <a:buNone/>
            </a:pPr>
            <a:r>
              <a:rPr lang="ko-KR" altLang="en-US" sz="18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네트워크 구조</a:t>
            </a:r>
            <a:endParaRPr lang="en-US" altLang="ko-KR" sz="18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입력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 AFL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제공하는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8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차원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상태 벡터</a:t>
            </a:r>
            <a:endParaRPr lang="en-US" altLang="ko-KR" sz="18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구조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 FC(64)–</a:t>
            </a:r>
            <a:r>
              <a:rPr lang="en-US" altLang="ko-KR" sz="18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ReLU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× 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출력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 Policy: mutation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강도 선택 확률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(4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차원 </a:t>
            </a:r>
            <a:r>
              <a:rPr lang="en-US" altLang="ko-KR" sz="18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softmax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               Value: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상태 가치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1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차원</a:t>
            </a:r>
            <a:endParaRPr lang="en-US" altLang="ko-KR" sz="18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Action</a:t>
            </a:r>
            <a:r>
              <a:rPr lang="ko-KR" altLang="en-US" sz="18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의 역할</a:t>
            </a:r>
            <a:endParaRPr lang="en-US" altLang="ko-KR" sz="18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 0~3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은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내부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강도를 조절하는 스위치→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“이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 얼마나 강한 변이가 </a:t>
            </a:r>
            <a:r>
              <a:rPr lang="ko-KR" altLang="en-US" sz="18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필요한지”를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학습하는 구조</a:t>
            </a:r>
            <a:endParaRPr lang="en-US" altLang="ko-KR" sz="18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18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흐름 요약</a:t>
            </a:r>
            <a:endParaRPr lang="en-US" altLang="ko-KR" sz="18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state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전달 → 서버가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응답→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AFL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fuzzing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실행 및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reward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계산→ 서버가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trajectory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저장 후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학습</a:t>
            </a:r>
            <a:endParaRPr lang="en-US" altLang="ko-KR" sz="18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700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947FD-1FBF-089D-E684-962317E71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22A10-5AE1-B3D9-EC2A-9E86FFCF3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194437"/>
            <a:ext cx="10515600" cy="671195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4.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81DB78-25E1-724B-9A79-25A63A032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1109473"/>
            <a:ext cx="9875520" cy="5554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환경 요약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OS: Windows 11 + wsl2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사용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-&gt; Ubuntu 20.04 (Docker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내부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Fuzzer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 AFL 2.57b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기반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수정된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AFL-PPO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RL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프레임워크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 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PyTorch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타겟 프로그램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4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Binutils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2.26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의 </a:t>
            </a:r>
            <a:r>
              <a:rPr lang="en-US" altLang="ko-KR" sz="24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readelf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/ </a:t>
            </a:r>
            <a:r>
              <a:rPr lang="en-US" altLang="ko-KR" sz="24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objdump</a:t>
            </a:r>
            <a:endParaRPr lang="en-US" altLang="ko-KR" sz="24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동일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corpus 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사용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(AFL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에서 제공하는 기본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elf testcase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1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개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</a:p>
          <a:p>
            <a:pPr marL="0" indent="0">
              <a:buNone/>
            </a:pPr>
            <a:endParaRPr lang="en-US" altLang="ko-KR" sz="24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하드웨어</a:t>
            </a:r>
            <a:endParaRPr lang="en-US" altLang="ko-KR" sz="24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Host: 10-core CPU, 32GB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컨테이너 단위로 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1 </a:t>
            </a:r>
            <a:r>
              <a:rPr lang="en-US" altLang="ko-KR" sz="24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fuzzer</a:t>
            </a:r>
            <a:r>
              <a: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실행</a:t>
            </a:r>
            <a:endParaRPr lang="en-US" altLang="ko-KR" sz="24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ko-KR" altLang="en-US" sz="24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4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None/>
            </a:pP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9335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95DAC-FE33-FE8D-00C7-DE8D0828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60510-D559-BE0C-2378-82477344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194437"/>
            <a:ext cx="10515600" cy="671195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5. State / Action / Reward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A6A85C-2BC4-2EB8-6C73-A838FCCB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1115569"/>
            <a:ext cx="5730240" cy="4187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State (seed</a:t>
            </a: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의 </a:t>
            </a: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8</a:t>
            </a: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개 특징</a:t>
            </a: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현재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depth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입력 길이의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log scale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favored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여부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handicap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값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fuzz_level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(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해당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반복횟수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perf_score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normalization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queue size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비율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dummy(0)</a:t>
            </a:r>
          </a:p>
          <a:p>
            <a:pPr>
              <a:buFont typeface="Wingdings" panose="05000000000000000000" pitchFamily="2" charset="2"/>
              <a:buChar char="§"/>
            </a:pPr>
            <a:endParaRPr lang="ko-KR" altLang="en-US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9364AAB-D29A-9C52-D1AF-453549ED5A2D}"/>
              </a:ext>
            </a:extLst>
          </p:cNvPr>
          <p:cNvSpPr txBox="1">
            <a:spLocks/>
          </p:cNvSpPr>
          <p:nvPr/>
        </p:nvSpPr>
        <p:spPr>
          <a:xfrm>
            <a:off x="5248656" y="1115569"/>
            <a:ext cx="5730240" cy="24079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Action (4</a:t>
            </a: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개</a:t>
            </a: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SKIM: mutation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깊이를 줄이고 빠르게 훑기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NORMAL: AFL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기본 값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DEEP: mutation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반복 강하게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EXPLORE: splicing/havoc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등 공격적인 단계 반복 수 증가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D34050-4EB3-A5B6-ABB9-DC5C44C7B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639" y="5406902"/>
            <a:ext cx="8173071" cy="1006090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949DACD-541D-2E01-5A2F-6A4BDC67485F}"/>
              </a:ext>
            </a:extLst>
          </p:cNvPr>
          <p:cNvSpPr txBox="1">
            <a:spLocks/>
          </p:cNvSpPr>
          <p:nvPr/>
        </p:nvSpPr>
        <p:spPr>
          <a:xfrm>
            <a:off x="5321808" y="3523490"/>
            <a:ext cx="5730240" cy="2407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Reward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= (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새 경로를 얼마나 잘 찾았는가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+ (crash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발견 보너스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- (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진전 없이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exec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만 많이 돌린 </a:t>
            </a:r>
            <a:r>
              <a:rPr lang="ko-KR" altLang="en-US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패널티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9562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5CFA7-3173-1F3D-516A-3FF1B61D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9F0405-3A49-98C0-EDD2-52E1B25C0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322453"/>
            <a:ext cx="10515600" cy="671195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6.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사용한 강화학습 알고리즘 및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hyperparameter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2637D8-A679-8E94-5CCC-EA889494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463041"/>
            <a:ext cx="11045952" cy="45719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PPO(Proximal Policy Optimization)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기본 구조로 사용한다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Policy/Value network: 8 → 64 → 64 → action/value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Optimizer: Adam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LR: 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기본 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1e-4 (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추가 실험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 5e-5)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Gamma: 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기본 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0.99 (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추가 실험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 0.9)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Clip range: 0.2 (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고정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Trajectory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단위로 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1-step 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업데이트 진행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프로젝트는 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full PPO implementation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아니라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,seed-level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에서 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online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으로 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policy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즉시 업데이트하는 간단한 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변형을 사용한다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6928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6130B-3D32-D867-C39B-E3A531344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812EC-5BA0-6268-7F2D-DBADB939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194437"/>
            <a:ext cx="10515600" cy="671195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7.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setup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29827C-9687-AD9B-6810-2DFA23075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1109473"/>
            <a:ext cx="9875520" cy="55540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비교대상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AFL-PPO (base) : (</a:t>
            </a:r>
            <a:r>
              <a:rPr lang="el-GR" altLang="ko-KR" sz="2400" dirty="0"/>
              <a:t>γ</a:t>
            </a:r>
            <a:r>
              <a:rPr lang="en-US" altLang="ko-KR" sz="2400" dirty="0"/>
              <a:t>=0.99, </a:t>
            </a:r>
            <a:r>
              <a:rPr lang="en-US" altLang="ko-KR" sz="2400" dirty="0" err="1"/>
              <a:t>lr</a:t>
            </a:r>
            <a:r>
              <a:rPr lang="en-US" altLang="ko-KR" sz="2400" dirty="0"/>
              <a:t>=1e-4, clip=0.2)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AFL-PPO : (</a:t>
            </a:r>
            <a:r>
              <a:rPr lang="el-GR" altLang="ko-KR" sz="2200" b="1" u="sng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γ</a:t>
            </a:r>
            <a:r>
              <a:rPr lang="en-US" altLang="ko-KR" sz="2200" b="1" u="sng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=0.9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lr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=1e-4, clip=0.2)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AFL-PPO </a:t>
            </a:r>
            <a:r>
              <a:rPr lang="el-GR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(γ=0.9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9</a:t>
            </a:r>
            <a:r>
              <a:rPr lang="el-GR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en-US" altLang="ko-KR" sz="2200" b="1" u="sng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lr</a:t>
            </a:r>
            <a:r>
              <a:rPr lang="en-US" altLang="ko-KR" sz="2200" b="1" u="sng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=5e-5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clip=0.2)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반복실행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각 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fuzzer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× 5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회 반복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실행 시간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 3600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초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(1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시간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</a:p>
          <a:p>
            <a:pPr marL="0" indent="0">
              <a:buNone/>
            </a:pP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실행 조건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모든 컨테이너 동일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CPU/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메모리 조건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Docker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로 실행 일관성을 보장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corpus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고정 →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fairness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확보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6013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4C209-95F1-A0C0-01DE-5CC02FB5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8DE756C-CBC9-0797-E0C5-407B8569F3D9}"/>
              </a:ext>
            </a:extLst>
          </p:cNvPr>
          <p:cNvSpPr txBox="1">
            <a:spLocks/>
          </p:cNvSpPr>
          <p:nvPr/>
        </p:nvSpPr>
        <p:spPr>
          <a:xfrm>
            <a:off x="585216" y="1072896"/>
            <a:ext cx="9875520" cy="57851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Coverage </a:t>
            </a: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관련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paths_total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bitmap coverage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비율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신규 경로 발견 속도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(time-based)</a:t>
            </a: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성능 관련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execs/sec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pending_total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감소 추이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unique crash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발견 여부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RL </a:t>
            </a: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전용 지표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histogram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reward curve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Hyperparameter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변화 시 안정성 비교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6CE03D4-52E2-BCC8-6850-B4655D7672CC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8. Evaluation Metrics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860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41EB-2DCA-E75F-D918-A704322D3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580AE9A-5F66-A01B-89A1-C3E04312C3FC}"/>
              </a:ext>
            </a:extLst>
          </p:cNvPr>
          <p:cNvSpPr txBox="1">
            <a:spLocks/>
          </p:cNvSpPr>
          <p:nvPr/>
        </p:nvSpPr>
        <p:spPr>
          <a:xfrm>
            <a:off x="585216" y="1072896"/>
            <a:ext cx="9875520" cy="5511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전체 자동화 흐름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A28A89D-C933-023F-F386-2C5667B9F68B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9.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구현된 실험 파이프라인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F1E03D-261A-045A-F732-D208FEAA674D}"/>
              </a:ext>
            </a:extLst>
          </p:cNvPr>
          <p:cNvSpPr/>
          <p:nvPr/>
        </p:nvSpPr>
        <p:spPr>
          <a:xfrm>
            <a:off x="585216" y="1816611"/>
            <a:ext cx="1280160" cy="5114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296D31-6312-5891-BDB8-15B7A4F3A16C}"/>
              </a:ext>
            </a:extLst>
          </p:cNvPr>
          <p:cNvSpPr/>
          <p:nvPr/>
        </p:nvSpPr>
        <p:spPr>
          <a:xfrm>
            <a:off x="2750820" y="1816611"/>
            <a:ext cx="1639824" cy="5114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3CC80A-CED0-0548-AA48-A2180674C323}"/>
              </a:ext>
            </a:extLst>
          </p:cNvPr>
          <p:cNvSpPr/>
          <p:nvPr/>
        </p:nvSpPr>
        <p:spPr>
          <a:xfrm>
            <a:off x="5276088" y="1816611"/>
            <a:ext cx="1639824" cy="5114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19781B-1723-53D5-4F4F-C971080FA5AF}"/>
              </a:ext>
            </a:extLst>
          </p:cNvPr>
          <p:cNvSpPr/>
          <p:nvPr/>
        </p:nvSpPr>
        <p:spPr>
          <a:xfrm>
            <a:off x="3787902" y="2889083"/>
            <a:ext cx="5100066" cy="7040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9777D0-24C6-9219-BD78-3096C8C042B4}"/>
              </a:ext>
            </a:extLst>
          </p:cNvPr>
          <p:cNvSpPr/>
          <p:nvPr/>
        </p:nvSpPr>
        <p:spPr>
          <a:xfrm>
            <a:off x="5272468" y="4144279"/>
            <a:ext cx="2130933" cy="5114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A149AF-24FD-BAAC-EE7F-C3EB8097C41D}"/>
              </a:ext>
            </a:extLst>
          </p:cNvPr>
          <p:cNvSpPr/>
          <p:nvPr/>
        </p:nvSpPr>
        <p:spPr>
          <a:xfrm>
            <a:off x="1375788" y="5248429"/>
            <a:ext cx="3699509" cy="5114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4456ED-44C7-3A90-BA19-3ABBF01E58E8}"/>
              </a:ext>
            </a:extLst>
          </p:cNvPr>
          <p:cNvSpPr/>
          <p:nvPr/>
        </p:nvSpPr>
        <p:spPr>
          <a:xfrm>
            <a:off x="5272468" y="5241980"/>
            <a:ext cx="2714244" cy="5114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EBEB8-C55B-24C9-EAE9-F6BC433CE23D}"/>
              </a:ext>
            </a:extLst>
          </p:cNvPr>
          <p:cNvSpPr txBox="1"/>
          <p:nvPr/>
        </p:nvSpPr>
        <p:spPr>
          <a:xfrm>
            <a:off x="694944" y="1887685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build.sh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095DB8-42DD-AB52-A96D-9380080B990C}"/>
              </a:ext>
            </a:extLst>
          </p:cNvPr>
          <p:cNvSpPr txBox="1"/>
          <p:nvPr/>
        </p:nvSpPr>
        <p:spPr>
          <a:xfrm>
            <a:off x="2750820" y="1870212"/>
            <a:ext cx="1639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Docker Image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C0885B-1F80-086A-A7EC-EC13D69FCD29}"/>
              </a:ext>
            </a:extLst>
          </p:cNvPr>
          <p:cNvSpPr txBox="1"/>
          <p:nvPr/>
        </p:nvSpPr>
        <p:spPr>
          <a:xfrm>
            <a:off x="5312664" y="1892521"/>
            <a:ext cx="1639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reproduce.py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E87A2D-E896-4D1A-A4D2-F66BAE738A65}"/>
              </a:ext>
            </a:extLst>
          </p:cNvPr>
          <p:cNvSpPr txBox="1"/>
          <p:nvPr/>
        </p:nvSpPr>
        <p:spPr>
          <a:xfrm>
            <a:off x="3910203" y="3056461"/>
            <a:ext cx="4855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Parallel containers (AFL, AFL-PPO, HP tuning)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E37DF8-8556-ED90-05D6-60CDB3094E8D}"/>
              </a:ext>
            </a:extLst>
          </p:cNvPr>
          <p:cNvSpPr txBox="1"/>
          <p:nvPr/>
        </p:nvSpPr>
        <p:spPr>
          <a:xfrm>
            <a:off x="5272469" y="4205246"/>
            <a:ext cx="213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analyze_results.py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C9555B-97FD-C27D-F8C3-860450EF6A35}"/>
              </a:ext>
            </a:extLst>
          </p:cNvPr>
          <p:cNvSpPr txBox="1"/>
          <p:nvPr/>
        </p:nvSpPr>
        <p:spPr>
          <a:xfrm>
            <a:off x="1403220" y="5318106"/>
            <a:ext cx="3699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compare_multi_from_summary.py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2ABC58-A742-1196-14C9-4D38EB5E20DB}"/>
              </a:ext>
            </a:extLst>
          </p:cNvPr>
          <p:cNvSpPr txBox="1"/>
          <p:nvPr/>
        </p:nvSpPr>
        <p:spPr>
          <a:xfrm>
            <a:off x="5326949" y="5269925"/>
            <a:ext cx="267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compare_time_series.py</a:t>
            </a:r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452256B-D6C8-1E2E-624E-2E8F7536817B}"/>
              </a:ext>
            </a:extLst>
          </p:cNvPr>
          <p:cNvCxnSpPr>
            <a:stCxn id="2" idx="3"/>
            <a:endCxn id="12" idx="1"/>
          </p:cNvCxnSpPr>
          <p:nvPr/>
        </p:nvCxnSpPr>
        <p:spPr>
          <a:xfrm flipV="1">
            <a:off x="1865376" y="2054878"/>
            <a:ext cx="885444" cy="17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64AA5FA-444E-B66D-5EDB-06E4207B4BF3}"/>
              </a:ext>
            </a:extLst>
          </p:cNvPr>
          <p:cNvCxnSpPr>
            <a:stCxn id="12" idx="3"/>
            <a:endCxn id="6" idx="1"/>
          </p:cNvCxnSpPr>
          <p:nvPr/>
        </p:nvCxnSpPr>
        <p:spPr>
          <a:xfrm>
            <a:off x="4390644" y="2054878"/>
            <a:ext cx="885444" cy="17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22C5DB8-34FE-817B-00F6-4BD132B3A44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096000" y="2328092"/>
            <a:ext cx="241935" cy="560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A095380-E839-37CC-7802-D6319C039267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6337935" y="3593171"/>
            <a:ext cx="0" cy="551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73BA0BB-15DE-43F6-816A-BFCB5B837ECA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3225543" y="4655760"/>
            <a:ext cx="3112392" cy="592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94C98F5-152C-32F1-FF15-B7C349100BDA}"/>
              </a:ext>
            </a:extLst>
          </p:cNvPr>
          <p:cNvCxnSpPr>
            <a:stCxn id="8" idx="2"/>
            <a:endCxn id="17" idx="0"/>
          </p:cNvCxnSpPr>
          <p:nvPr/>
        </p:nvCxnSpPr>
        <p:spPr>
          <a:xfrm>
            <a:off x="6337935" y="4655760"/>
            <a:ext cx="324038" cy="614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C5A36B7-D637-9484-D3E8-E1E82A9B2D12}"/>
              </a:ext>
            </a:extLst>
          </p:cNvPr>
          <p:cNvSpPr/>
          <p:nvPr/>
        </p:nvSpPr>
        <p:spPr>
          <a:xfrm>
            <a:off x="8384860" y="5241979"/>
            <a:ext cx="2273047" cy="5114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2CA374-2D8F-80E9-430C-896B2D7E86C3}"/>
              </a:ext>
            </a:extLst>
          </p:cNvPr>
          <p:cNvSpPr txBox="1"/>
          <p:nvPr/>
        </p:nvSpPr>
        <p:spPr>
          <a:xfrm>
            <a:off x="8544314" y="5308308"/>
            <a:ext cx="2113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plot_ppo_stats.py</a:t>
            </a:r>
            <a:endParaRPr lang="ko-KR" altLang="en-US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A96ADE8-C957-357D-0ACC-B59BAD666C91}"/>
              </a:ext>
            </a:extLst>
          </p:cNvPr>
          <p:cNvCxnSpPr>
            <a:cxnSpLocks/>
            <a:stCxn id="8" idx="2"/>
            <a:endCxn id="34" idx="0"/>
          </p:cNvCxnSpPr>
          <p:nvPr/>
        </p:nvCxnSpPr>
        <p:spPr>
          <a:xfrm>
            <a:off x="6337935" y="4655760"/>
            <a:ext cx="3183449" cy="586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696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32080-440E-E427-D96D-C589E023E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6D6FFD9-CDB9-1E82-7B28-0B6ACA8FF2CE}"/>
              </a:ext>
            </a:extLst>
          </p:cNvPr>
          <p:cNvSpPr txBox="1">
            <a:spLocks/>
          </p:cNvSpPr>
          <p:nvPr/>
        </p:nvSpPr>
        <p:spPr>
          <a:xfrm>
            <a:off x="585216" y="1072896"/>
            <a:ext cx="11143488" cy="5511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목적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AFL, AFL-PPO,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그리고 두 개의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변형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(γ=0.9, 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lr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=5e-5)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동일한 환경에서 비교하여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coverage, execution speed, queue behavior, crash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발견 여부 등을 평가한다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데이터 구성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각 설정당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5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회 실행 후 평균값 산출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readelf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/ 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objdump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두 프로그램 모두 측정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핵심 관찰 포인트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baseline AFL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대비 얼마나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coverage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늘릴 수 있었는가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의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정책 선택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(action histogram)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실제로 차이를 만들었는가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의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hyperparameter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변경이 어떤 영향을 주었는가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?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28CB6B8-ADF7-E7BE-D573-3E4E06ED6BC5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 결과 개요</a:t>
            </a:r>
          </a:p>
        </p:txBody>
      </p:sp>
    </p:spTree>
    <p:extLst>
      <p:ext uri="{BB962C8B-B14F-4D97-AF65-F5344CB8AC3E}">
        <p14:creationId xmlns:p14="http://schemas.microsoft.com/office/powerpoint/2010/main" val="85971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E654E-550B-8B83-0299-9C22C65B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985F16B-5A2B-9388-C5F6-9C9318265BAD}"/>
              </a:ext>
            </a:extLst>
          </p:cNvPr>
          <p:cNvSpPr txBox="1">
            <a:spLocks/>
          </p:cNvSpPr>
          <p:nvPr/>
        </p:nvSpPr>
        <p:spPr>
          <a:xfrm>
            <a:off x="422144" y="5125421"/>
            <a:ext cx="10980081" cy="2212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 err="1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readelf</a:t>
            </a:r>
            <a:r>
              <a:rPr lang="ko-KR" altLang="en-US" sz="16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결과</a:t>
            </a:r>
            <a:endParaRPr lang="en-US" altLang="ko-KR" sz="16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네 실험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(AFL, PPO-base, PPO-g0.9, PPO-lr5e-5) 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모두 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coverage 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상승 곡선이 거의 겹침</a:t>
            </a:r>
            <a:endParaRPr lang="en-US" altLang="ko-KR" sz="16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RL 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정책이 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coverage 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확장에 눈에 띄는 영향을 주지 못함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초반 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0~800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초 확대 그래프에서도 탐색 속도 패턴이 거의 동일하며 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16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모델들끼리도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큰 차이가 없음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1DDF75D-7BF3-F357-C0D8-BC5002834262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 결과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(Coverage)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0" name="그림 9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1EDC6D-8289-B446-CD61-6C9584E2D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72" y="945197"/>
            <a:ext cx="5442743" cy="4073500"/>
          </a:xfrm>
          <a:prstGeom prst="rect">
            <a:avLst/>
          </a:prstGeom>
        </p:spPr>
      </p:pic>
      <p:pic>
        <p:nvPicPr>
          <p:cNvPr id="12" name="그림 11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B22964-48A1-3940-B29A-8AFDA0A87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911" y="826921"/>
            <a:ext cx="5779802" cy="42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33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22B4B-680C-2B85-2AF6-4142BCA6C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340407A-8EB7-43CE-A556-763D4AF27E17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 결과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(coverage)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3" name="그림 2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249E04-3F66-EDDC-D57C-469227772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16" y="853095"/>
            <a:ext cx="5234028" cy="3902781"/>
          </a:xfrm>
          <a:prstGeom prst="rect">
            <a:avLst/>
          </a:prstGeom>
        </p:spPr>
      </p:pic>
      <p:pic>
        <p:nvPicPr>
          <p:cNvPr id="7" name="그림 6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2EA3C6-DA99-91EA-0640-2538FB59E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591" y="907775"/>
            <a:ext cx="5295600" cy="3957059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014520A-1D42-909B-F501-C4895C5F1A88}"/>
              </a:ext>
            </a:extLst>
          </p:cNvPr>
          <p:cNvSpPr txBox="1">
            <a:spLocks/>
          </p:cNvSpPr>
          <p:nvPr/>
        </p:nvSpPr>
        <p:spPr>
          <a:xfrm>
            <a:off x="551369" y="4975332"/>
            <a:ext cx="10980081" cy="13401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 err="1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readelf</a:t>
            </a:r>
            <a:r>
              <a:rPr lang="ko-KR" altLang="en-US" sz="16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결과</a:t>
            </a:r>
            <a:endParaRPr lang="en-US" altLang="ko-KR" sz="16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bitmap coverage 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역시 네 모델 모두 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13.5~14% 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범위로 거의 동일</a:t>
            </a:r>
            <a:endParaRPr lang="en-US" altLang="ko-KR" sz="16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강도를 바꿔도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전체적으로 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과 비슷한 경로만 탐색했다는 의미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가장 많은 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path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찾아내었고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PPO 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계열은 모두 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보다 더 적은 경로를 탐색함</a:t>
            </a:r>
            <a:r>
              <a:rPr lang="en-US" altLang="ko-KR" sz="16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16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1480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75359-1C04-2F20-A9C7-4BC13590D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27D7B15-77B1-8358-FEB7-9E48AF38E4AE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 결과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(coverage)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6CEF491-2EF9-6149-DB0E-03EE3B950996}"/>
              </a:ext>
            </a:extLst>
          </p:cNvPr>
          <p:cNvSpPr txBox="1">
            <a:spLocks/>
          </p:cNvSpPr>
          <p:nvPr/>
        </p:nvSpPr>
        <p:spPr>
          <a:xfrm>
            <a:off x="585216" y="5125974"/>
            <a:ext cx="10911840" cy="2371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 err="1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objdump</a:t>
            </a:r>
            <a:r>
              <a:rPr lang="ko-KR" altLang="en-US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결과</a:t>
            </a:r>
            <a:endParaRPr lang="en-US" altLang="ko-KR" sz="2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시간 축 그래프에서 네 모델의 곡선은 전 구간에서 거의 붙어 있고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PPO-g0.9 / PPO-base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후반부에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아주 조금 앞서는 정도에 그침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pic>
        <p:nvPicPr>
          <p:cNvPr id="3" name="그림 2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C9953C-6F5D-7A4E-8609-ED80A5E89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9" y="945197"/>
            <a:ext cx="5519164" cy="4154583"/>
          </a:xfrm>
          <a:prstGeom prst="rect">
            <a:avLst/>
          </a:prstGeom>
        </p:spPr>
      </p:pic>
      <p:pic>
        <p:nvPicPr>
          <p:cNvPr id="7" name="그림 6" descr="텍스트, 그래프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0E8071-5B7C-1DA7-38E0-955D5AAC9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191" y="1013734"/>
            <a:ext cx="5481593" cy="412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95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F8BAD-E0A8-42D7-ADA1-34D0C667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3183D7A-0F2F-FCDB-839A-B0CEED4C0774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 결과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(coverage)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0BCD883-2BFF-1522-197D-85529982A089}"/>
              </a:ext>
            </a:extLst>
          </p:cNvPr>
          <p:cNvSpPr txBox="1">
            <a:spLocks/>
          </p:cNvSpPr>
          <p:nvPr/>
        </p:nvSpPr>
        <p:spPr>
          <a:xfrm>
            <a:off x="499872" y="4828032"/>
            <a:ext cx="10911840" cy="191490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 err="1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objdump</a:t>
            </a:r>
            <a:r>
              <a:rPr lang="ko-KR" altLang="en-US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결과</a:t>
            </a:r>
            <a:endParaRPr lang="en-US" altLang="ko-KR" sz="2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paths_total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기준으로는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가장 많은 경로를 탐색함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PPO-base / g0.9 / lr5e-5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각각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대비 약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3~8%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정도 적은 경로 수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반대로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bitmap coverage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기준으로 보면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PPO-base, PPO-g0.9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보다 약간 높은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coverage(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약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+1.6%, +3.1%)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보임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PPO-lr5e-5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과 비슷하거나 소폭 낮음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</a:t>
            </a:r>
            <a:r>
              <a:rPr lang="en-US" altLang="ko-KR" sz="2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objdump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에서 경로 수를 크게 늘리지는 못했지만 에너지 배분이 약간 달라지면서 경로당 커버하는 분기 수가 조금 늘어난 정도의 효과만 보임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pic>
        <p:nvPicPr>
          <p:cNvPr id="5" name="그림 4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492257-3CEC-B340-4BC3-2195A091E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2" y="945198"/>
            <a:ext cx="5181600" cy="3865638"/>
          </a:xfrm>
          <a:prstGeom prst="rect">
            <a:avLst/>
          </a:prstGeom>
        </p:spPr>
      </p:pic>
      <p:pic>
        <p:nvPicPr>
          <p:cNvPr id="9" name="그림 8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A3C574-12A1-EF7A-FC6C-F49822B13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595" y="906700"/>
            <a:ext cx="5246117" cy="393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447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2763-965F-7B13-9967-CD672A4A3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425DE60-5790-61D7-7CCF-2E41062B12FC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 결과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(execs/sec)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195AF0C-3D13-0B7C-A51B-85964FC13FA5}"/>
              </a:ext>
            </a:extLst>
          </p:cNvPr>
          <p:cNvSpPr txBox="1">
            <a:spLocks/>
          </p:cNvSpPr>
          <p:nvPr/>
        </p:nvSpPr>
        <p:spPr>
          <a:xfrm>
            <a:off x="499872" y="4828032"/>
            <a:ext cx="10911840" cy="1914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 err="1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readelf</a:t>
            </a:r>
            <a:r>
              <a:rPr lang="ko-KR" altLang="en-US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결과</a:t>
            </a:r>
            <a:endParaRPr lang="en-US" altLang="ko-KR" sz="2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전반적으로 가장 높은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execs/sec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유지함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세 모델은 모두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보다 약간 낮은 수준에서 움직이며 차이는 크지 않음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readelf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실행 구조에서는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RL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정책 변화가 실행 속도에 별 영향이 없음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pic>
        <p:nvPicPr>
          <p:cNvPr id="3" name="그림 2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91428F-E241-C975-3662-E7F5A13DA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3" y="945197"/>
            <a:ext cx="5145024" cy="3860813"/>
          </a:xfrm>
          <a:prstGeom prst="rect">
            <a:avLst/>
          </a:prstGeom>
        </p:spPr>
      </p:pic>
      <p:pic>
        <p:nvPicPr>
          <p:cNvPr id="7" name="그림 6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470F1A-405D-A210-101D-242EBC180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728" y="945197"/>
            <a:ext cx="5422680" cy="407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36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A793C-B321-79A0-BDC4-B2E8EAB2B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E374038-9203-C3F4-8125-CCDA0C3F1F6A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 결과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(execs/sec)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0130D80-B06A-0A7F-7CF4-332DC18AC92D}"/>
              </a:ext>
            </a:extLst>
          </p:cNvPr>
          <p:cNvSpPr txBox="1">
            <a:spLocks/>
          </p:cNvSpPr>
          <p:nvPr/>
        </p:nvSpPr>
        <p:spPr>
          <a:xfrm>
            <a:off x="499872" y="4425696"/>
            <a:ext cx="10911840" cy="23172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 err="1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objdump</a:t>
            </a:r>
            <a:r>
              <a:rPr lang="ko-KR" altLang="en-US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결과</a:t>
            </a:r>
            <a:endParaRPr lang="en-US" altLang="ko-KR" sz="2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전체 시간 그래프는 매우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noisy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하며 네 모델이 비슷하게 뒤섞여 있음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평균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exec/sec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만 보면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PPO-base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와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PPO-lr5e-5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보다 빠르지만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coverage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향상으로 이어지지 않았음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PPO-g0.9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오히려 느리게 작동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objdump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에서는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일부 설정에서 속도 이득이 있었지만 탐색 성능 개선과는 무관하며 안정적 패턴도 아님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</p:txBody>
      </p:sp>
      <p:pic>
        <p:nvPicPr>
          <p:cNvPr id="5" name="그림 4" descr="텍스트, 스크린샷, 그래프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F747A4-5D80-478B-98E5-11F9E78B0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13" y="945197"/>
            <a:ext cx="4636840" cy="3473973"/>
          </a:xfrm>
          <a:prstGeom prst="rect">
            <a:avLst/>
          </a:prstGeom>
        </p:spPr>
      </p:pic>
      <p:pic>
        <p:nvPicPr>
          <p:cNvPr id="9" name="그림 8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FA1E9E-7584-51FB-2C69-C7C4D8D24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77271"/>
            <a:ext cx="4722532" cy="354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90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8029-DAEC-023C-0480-E24E4D7A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9EB0984-34FB-DC52-2C37-B54F05AE86CC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 결과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(queue behavior)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6F3D226-10E9-B7B5-39A0-F032288A8E2E}"/>
              </a:ext>
            </a:extLst>
          </p:cNvPr>
          <p:cNvSpPr txBox="1">
            <a:spLocks/>
          </p:cNvSpPr>
          <p:nvPr/>
        </p:nvSpPr>
        <p:spPr>
          <a:xfrm>
            <a:off x="463296" y="4425696"/>
            <a:ext cx="5157216" cy="23172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 err="1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readelf</a:t>
            </a:r>
            <a:r>
              <a:rPr lang="ko-KR" altLang="en-US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결과</a:t>
            </a:r>
            <a:endParaRPr lang="en-US" altLang="ko-KR" sz="2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Pending total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가장 크고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세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모델은 모두 약간 더 낮은 </a:t>
            </a:r>
            <a:r>
              <a:rPr lang="en-US" altLang="ko-KR" sz="2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pending_total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유지함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감소폭도 모든 모델이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1~3%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수준으로 미세함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PPO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queue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전체 크기 자체를 줄이려는 특이한 패턴은 없음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전체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수 수준에서는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정책이 큰 변화를 만든 것이 아님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</p:txBody>
      </p:sp>
      <p:pic>
        <p:nvPicPr>
          <p:cNvPr id="3" name="그림 2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0C16D5-3257-F8C4-25E0-E303B1D74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14" y="945197"/>
            <a:ext cx="4579605" cy="3480499"/>
          </a:xfrm>
          <a:prstGeom prst="rect">
            <a:avLst/>
          </a:prstGeom>
        </p:spPr>
      </p:pic>
      <p:pic>
        <p:nvPicPr>
          <p:cNvPr id="7" name="그림 6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0A131B-640D-2417-C484-E85082D64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99" y="826821"/>
            <a:ext cx="4943237" cy="3717252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5259466-48DB-479F-BF10-E98B161BD8E2}"/>
              </a:ext>
            </a:extLst>
          </p:cNvPr>
          <p:cNvSpPr txBox="1">
            <a:spLocks/>
          </p:cNvSpPr>
          <p:nvPr/>
        </p:nvSpPr>
        <p:spPr>
          <a:xfrm>
            <a:off x="6096000" y="4425696"/>
            <a:ext cx="5157216" cy="23172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Pending _favs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대비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PPO-base / g0.9 / lr5e-5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favored seed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수가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2~3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배 증가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/>
              <a:t>특히 </a:t>
            </a:r>
            <a:r>
              <a:rPr lang="en-US" altLang="ko-KR" sz="2000" dirty="0"/>
              <a:t>base/lr5e-5</a:t>
            </a:r>
            <a:r>
              <a:rPr lang="ko-KR" altLang="en-US" sz="2000" dirty="0"/>
              <a:t>에서 증가폭이 가장 큼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PPO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의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강도 선택이 상대적으로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‘favored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로 분류되는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형태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’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더 많이 생성함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하지만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coverage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늘지 않았기 때문에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PPO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‘좋은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fav’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와 ‘의미 없는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fav’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구별하지 못한 것으로 해석됨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3814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FC7E1-C3C6-F160-2834-50BA3DC7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1D64263-97E8-A830-5002-66236B53512A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 결과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(queue behavior)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44DCBC3-F711-371B-1447-E8287280D180}"/>
              </a:ext>
            </a:extLst>
          </p:cNvPr>
          <p:cNvSpPr txBox="1">
            <a:spLocks/>
          </p:cNvSpPr>
          <p:nvPr/>
        </p:nvSpPr>
        <p:spPr>
          <a:xfrm>
            <a:off x="402336" y="4228653"/>
            <a:ext cx="5157216" cy="2596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500" dirty="0" err="1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objdump</a:t>
            </a:r>
            <a:r>
              <a:rPr lang="ko-KR" altLang="en-US" sz="15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결과</a:t>
            </a:r>
            <a:endParaRPr lang="en-US" altLang="ko-KR" sz="15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15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Pending total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 &gt; PPO-base/lr5e-5 &gt; PPO-g0.9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순으로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queue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크기가 </a:t>
            </a:r>
            <a:r>
              <a:rPr lang="ko-KR" altLang="en-US" sz="15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작아짐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계열 모두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보다 약간 더 작은 </a:t>
            </a:r>
            <a:r>
              <a:rPr lang="en-US" altLang="ko-KR" sz="15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pending_total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(–4~–7%)</a:t>
            </a:r>
          </a:p>
          <a:p>
            <a:pPr marL="0" indent="0">
              <a:buNone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</a:t>
            </a:r>
            <a:r>
              <a:rPr lang="en-US" altLang="ko-KR" sz="15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objdump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에서도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전체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개수를 약간 줄이는 방향으로 동작함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하지만 이 감소가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performance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개선의 근거가 되지는 않음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ko-KR" sz="15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F6D640-CF9A-EDFC-9C8C-2095458F068A}"/>
              </a:ext>
            </a:extLst>
          </p:cNvPr>
          <p:cNvSpPr txBox="1">
            <a:spLocks/>
          </p:cNvSpPr>
          <p:nvPr/>
        </p:nvSpPr>
        <p:spPr>
          <a:xfrm>
            <a:off x="5913120" y="4540758"/>
            <a:ext cx="5998464" cy="2317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5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Pending _favs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의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favored seed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수는 거의 없음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계열은 이 수치가 수백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%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증가하며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특히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g0.9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+783%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로 가장 강함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</a:t>
            </a:r>
            <a:r>
              <a:rPr lang="en-US" altLang="ko-KR" sz="15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readelf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과 동일하게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favored seed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생성 패턴을 강하게 학습함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하지만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crash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탐지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/coverage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개선으로 이어지지 않음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 PPO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생성하는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fav seed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의 질이 떨어진다는 신호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</p:txBody>
      </p:sp>
      <p:pic>
        <p:nvPicPr>
          <p:cNvPr id="5" name="그림 4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7A9B6B-EE8C-5E44-4083-1C2BD3413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28" y="945197"/>
            <a:ext cx="4375638" cy="3283456"/>
          </a:xfrm>
          <a:prstGeom prst="rect">
            <a:avLst/>
          </a:prstGeom>
        </p:spPr>
      </p:pic>
      <p:pic>
        <p:nvPicPr>
          <p:cNvPr id="9" name="그림 8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9EFD08-E0F6-EED0-B60B-6A885066B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403" y="813056"/>
            <a:ext cx="4602373" cy="341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70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4D340-C9DD-E0D3-5830-07F9369A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895EB5D-5337-EB14-34A1-8177A217682F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 결과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(crash / hang)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3A6760A-CA50-43A0-4084-8FCF99353E94}"/>
              </a:ext>
            </a:extLst>
          </p:cNvPr>
          <p:cNvSpPr txBox="1">
            <a:spLocks/>
          </p:cNvSpPr>
          <p:nvPr/>
        </p:nvSpPr>
        <p:spPr>
          <a:xfrm>
            <a:off x="402336" y="4228653"/>
            <a:ext cx="5157216" cy="2596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500" dirty="0" err="1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objdump</a:t>
            </a:r>
            <a:r>
              <a:rPr lang="ko-KR" altLang="en-US" sz="15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결과 </a:t>
            </a:r>
            <a:r>
              <a:rPr lang="en-US" altLang="ko-KR" sz="15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en-US" altLang="ko-KR" sz="1500" dirty="0" err="1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readelf</a:t>
            </a:r>
            <a:r>
              <a:rPr lang="ko-KR" altLang="en-US" sz="15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는 전부 </a:t>
            </a:r>
            <a:r>
              <a:rPr lang="en-US" altLang="ko-KR" sz="15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crash, hang </a:t>
            </a:r>
            <a:r>
              <a:rPr lang="ko-KR" altLang="en-US" sz="15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발견 못함</a:t>
            </a:r>
            <a:r>
              <a:rPr lang="en-US" altLang="ko-KR" sz="15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5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crash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가장 많고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(P=32),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모든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모델은 절반 이하 수준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PPO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다양성이 떨어져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crash-triggering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입력을 덜 생성함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의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편향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+ sparse reward </a:t>
            </a:r>
            <a:r>
              <a:rPr lang="ko-KR" altLang="en-US" sz="15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탓에탐색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범위가 좁게 수렴 </a:t>
            </a:r>
            <a:endParaRPr lang="en-US" altLang="ko-KR" sz="15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crash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탐지 능력 저하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B86FF533-B3C3-0C3E-64B4-7FFEF0D37757}"/>
              </a:ext>
            </a:extLst>
          </p:cNvPr>
          <p:cNvSpPr txBox="1">
            <a:spLocks/>
          </p:cNvSpPr>
          <p:nvPr/>
        </p:nvSpPr>
        <p:spPr>
          <a:xfrm>
            <a:off x="5937504" y="4626102"/>
            <a:ext cx="5998464" cy="2317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5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hang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네 모델 모두 큰 차이 없음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mutation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정책 변화가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hang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탐지에는 영향 미미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Hang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은 구조적으로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crash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보다 찾기 쉬워서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변화가 성능에 거의 영향 </a:t>
            </a:r>
            <a:r>
              <a:rPr lang="en-US" altLang="ko-KR" sz="15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X.</a:t>
            </a:r>
          </a:p>
        </p:txBody>
      </p:sp>
      <p:pic>
        <p:nvPicPr>
          <p:cNvPr id="3" name="그림 2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9B5030-6540-1460-AAD8-7B9DBFC7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33" y="850168"/>
            <a:ext cx="4571999" cy="3409136"/>
          </a:xfrm>
          <a:prstGeom prst="rect">
            <a:avLst/>
          </a:prstGeom>
        </p:spPr>
      </p:pic>
      <p:pic>
        <p:nvPicPr>
          <p:cNvPr id="7" name="그림 6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2B57E7-3124-514A-F75C-C2B7BF3C3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289" y="859312"/>
            <a:ext cx="4802124" cy="358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584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942E4-7B72-FCC5-74C4-425165923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03FF9D9-626E-2AD5-45E9-C82885B70637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 결과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(PPO policy behavior)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680E22E-9BF0-C458-8060-0289FFEE5669}"/>
              </a:ext>
            </a:extLst>
          </p:cNvPr>
          <p:cNvSpPr txBox="1">
            <a:spLocks/>
          </p:cNvSpPr>
          <p:nvPr/>
        </p:nvSpPr>
        <p:spPr>
          <a:xfrm>
            <a:off x="256032" y="4301874"/>
            <a:ext cx="11911584" cy="1782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 err="1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readelf</a:t>
            </a:r>
            <a:endParaRPr lang="en-US" altLang="ko-KR" sz="18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(action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선택 성향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세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모델 모두 특정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action(A3)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사용 비중이 과도하게 높아 편향된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전략으로 수렴함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(reward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패턴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 reward curve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초반 이후 세 모델 모두 비슷한 수준에서 정체 → 학습 신호가 약해 정책 차이가 거의 없음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(steps per run) PPO-base/lr5e-5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안정적이고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g0.9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run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간 편차가 매우 커 학습이 불안정함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정책은 전반적으로 다양한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전략을 학습하지 못했고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reward sparsity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때문에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대비 의미 있는 변화를 만들지 못함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pic>
        <p:nvPicPr>
          <p:cNvPr id="5" name="그림 4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79BD99-14B4-66CB-C390-32F4C998F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26" y="1314611"/>
            <a:ext cx="3930138" cy="2617849"/>
          </a:xfrm>
          <a:prstGeom prst="rect">
            <a:avLst/>
          </a:prstGeom>
        </p:spPr>
      </p:pic>
      <p:pic>
        <p:nvPicPr>
          <p:cNvPr id="9" name="그림 8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B3A6AE-FFC4-3C7A-6412-C434FAD0F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240" y="1314611"/>
            <a:ext cx="4145418" cy="2765946"/>
          </a:xfrm>
          <a:prstGeom prst="rect">
            <a:avLst/>
          </a:prstGeom>
        </p:spPr>
      </p:pic>
      <p:pic>
        <p:nvPicPr>
          <p:cNvPr id="12" name="그림 11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63BFB2-199C-3C1B-AA5C-D0BACE3D9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658" y="1431533"/>
            <a:ext cx="3757738" cy="250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708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C1BA-38A5-0D1D-3A71-AECB24BCE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BFDD1D8-4631-BEA3-4B29-6ED5D4C04311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실험 결과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(PPO policy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behavior)</a:t>
            </a:r>
            <a:endParaRPr lang="ko-KR" altLang="en-US" sz="3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1696875-364E-7358-3640-08BB750F4CA6}"/>
              </a:ext>
            </a:extLst>
          </p:cNvPr>
          <p:cNvSpPr txBox="1">
            <a:spLocks/>
          </p:cNvSpPr>
          <p:nvPr/>
        </p:nvSpPr>
        <p:spPr>
          <a:xfrm>
            <a:off x="402336" y="4228653"/>
            <a:ext cx="11277600" cy="2596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 err="1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objdump</a:t>
            </a:r>
            <a:endParaRPr lang="en-US" altLang="ko-KR" sz="18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(action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선택 경향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 PPO-base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개수가 가장 많지만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여전히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A2/A3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중심의 편향된 선택이 유지됨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g0.9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수 자체가 적음 → </a:t>
            </a:r>
            <a:r>
              <a:rPr lang="ko-KR" altLang="en-US" sz="18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탐색량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감소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(reward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패턴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 reward curve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세 모델 모두 진동하며 거의 같은 수준에서 정체 → 유효한 학습 진행 안 됨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(steps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per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run)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PPO-base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안정적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lr5e-5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보통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g0.9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변동성이 매우 커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policy collapse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경향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다양한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시도하지 못해 </a:t>
            </a:r>
            <a:r>
              <a:rPr lang="en-US" altLang="ko-KR" sz="18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coverage·crash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탐색 모두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대비 개선 효과 없음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특히 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g0.9</a:t>
            </a:r>
            <a:r>
              <a:rPr lang="ko-KR" altLang="en-US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학습 불안정이 두드러짐</a:t>
            </a:r>
            <a:r>
              <a:rPr lang="en-US" altLang="ko-KR" sz="18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</p:txBody>
      </p:sp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314D1A-43DF-1004-C869-44569D06E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1610"/>
            <a:ext cx="4059665" cy="2690630"/>
          </a:xfrm>
          <a:prstGeom prst="rect">
            <a:avLst/>
          </a:prstGeom>
        </p:spPr>
      </p:pic>
      <p:pic>
        <p:nvPicPr>
          <p:cNvPr id="7" name="그림 6" descr="텍스트, 도표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69F57F-C7BE-EC2A-8D37-7AF30EF39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680" y="1284032"/>
            <a:ext cx="4037663" cy="2682742"/>
          </a:xfrm>
          <a:prstGeom prst="rect">
            <a:avLst/>
          </a:prstGeom>
        </p:spPr>
      </p:pic>
      <p:pic>
        <p:nvPicPr>
          <p:cNvPr id="13" name="그림 12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B1B0B7-DF68-41BD-20EB-54E3FDF08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393" y="1350060"/>
            <a:ext cx="3938287" cy="261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512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FD125-B532-D649-2AEE-FF6E7E39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434E762-33D6-E1BC-D911-3F6CF79646FD}"/>
              </a:ext>
            </a:extLst>
          </p:cNvPr>
          <p:cNvSpPr txBox="1">
            <a:spLocks/>
          </p:cNvSpPr>
          <p:nvPr/>
        </p:nvSpPr>
        <p:spPr>
          <a:xfrm>
            <a:off x="585216" y="1072896"/>
            <a:ext cx="10924032" cy="5511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전체 결과 요약</a:t>
            </a:r>
            <a:endParaRPr lang="en-US" altLang="ko-KR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Coverage: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두 타깃 모두에서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계열이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보다 약간 낮거나 </a:t>
            </a:r>
            <a:r>
              <a:rPr lang="ko-KR" altLang="en-US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비슷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Execs/sec: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일부 설정에서만 조금 빨라지지만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일관된 개선은 없음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Crash: 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objdump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기준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AFL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보다 훨씬 많은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crash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발견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Queue: PPO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는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favored seed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개수는 늘렸지만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결국 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coverage·crash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로 이어지지 않음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왜 강화학습에 실패했는가</a:t>
            </a:r>
            <a:r>
              <a:rPr lang="en-US" altLang="ko-KR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?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Reward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“새 경로 발견” 위주라 너무 드물게 들어옴 → 학습 신호가 약함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State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</a:t>
            </a:r>
            <a:r>
              <a:rPr lang="en-US" altLang="ko-KR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fuzzer_stats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안의 전역적인 수치이기에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</a:t>
            </a:r>
            <a:r>
              <a:rPr lang="ko-KR" altLang="en-US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좋은지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별 의미 없는지 구분이 잘 안 됨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Action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도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‘mutation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강도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4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단계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’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정도라 정책이 특정 단계 하나에만 </a:t>
            </a:r>
            <a:r>
              <a:rPr lang="ko-KR" altLang="en-US" sz="22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몰려버림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Per-seed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기준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step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수가 적어서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PPO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전략을 바꿔 볼 여유가 거의 없음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ko-KR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→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결국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RL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건드리는 부분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강도 조절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만으로는 </a:t>
            </a:r>
            <a:r>
              <a:rPr lang="en-US" altLang="ko-KR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fuzzing </a:t>
            </a:r>
            <a:r>
              <a:rPr lang="ko-KR" altLang="en-US" sz="22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전체 성능을 뒤집기 어려운 구조였음</a:t>
            </a:r>
            <a:endParaRPr lang="en-US" altLang="ko-KR" sz="22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75968E6-A65E-3664-450C-AC8EC2476122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11.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결론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F8EC62-36D3-D5C7-A032-17734FC12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Execs/sec: 일부 설정에서만 조금 빨라지지만, </a:t>
            </a:r>
            <a:r>
              <a:rPr kumimoji="0" lang="ko-KR" altLang="ko-K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일관된 개선은 없음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759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A2D0-52E0-B102-4CC6-53B1FC466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DB7CDA8-C64B-21C2-1823-7AD29DDAD0C1}"/>
              </a:ext>
            </a:extLst>
          </p:cNvPr>
          <p:cNvSpPr txBox="1">
            <a:spLocks/>
          </p:cNvSpPr>
          <p:nvPr/>
        </p:nvSpPr>
        <p:spPr>
          <a:xfrm>
            <a:off x="265176" y="1072896"/>
            <a:ext cx="11682984" cy="55111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상태</a:t>
            </a:r>
            <a:r>
              <a:rPr lang="en-US" altLang="ko-KR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(State)</a:t>
            </a:r>
            <a:r>
              <a:rPr lang="ko-KR" altLang="en-US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를 더 풍부하게 만들기</a:t>
            </a:r>
            <a:endParaRPr lang="en-US" altLang="ko-KR" sz="2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단순히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depth, execs/sec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같은 숫자만 쓰지 말고 “얼마나 희귀한 경로인지”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“이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어떤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계열에서 나왔는지”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“최근 몇 번의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얼마나 도움이 </a:t>
            </a:r>
            <a:r>
              <a:rPr lang="ko-KR" altLang="en-US" sz="2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됐는지”같은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정보를 같이 넣어서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좋은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 / </a:t>
            </a:r>
            <a:r>
              <a:rPr lang="ko-KR" altLang="en-US" sz="2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별로인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구분할 수 있게 만들기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Reward</a:t>
            </a:r>
            <a:r>
              <a:rPr lang="ko-KR" altLang="en-US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를 더 자주</a:t>
            </a:r>
            <a:r>
              <a:rPr lang="en-US" altLang="ko-KR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, </a:t>
            </a:r>
            <a:r>
              <a:rPr lang="ko-KR" altLang="en-US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더 직관적으로 주기</a:t>
            </a:r>
            <a:endParaRPr lang="en-US" altLang="ko-KR" sz="2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지금은 “새 경로 발견 </a:t>
            </a:r>
            <a:r>
              <a:rPr lang="ko-KR" altLang="en-US" sz="2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시”처럼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가끔만 큰 보상이 들어옴 → 학습이 잘 안 됨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예를 들어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“</a:t>
            </a:r>
            <a:r>
              <a:rPr lang="en-US" altLang="ko-KR" sz="2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hitcount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 조금이라도 늘면 작은 보상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”, “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희귀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branch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다시 밟으면 추가 보상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”, “crash, hang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은 기존보다 더 크게 보상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”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식으로 자잘한 변화에도 점수를 줘서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RL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 뭘 좋아해야 하는지 빨리 배우게 하기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Action</a:t>
            </a:r>
            <a:r>
              <a:rPr lang="ko-KR" altLang="en-US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을 다양하게 만들기</a:t>
            </a:r>
            <a:endParaRPr lang="en-US" altLang="ko-KR" sz="2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단순히 “강하게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약하게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mutate”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만 조절하지 말고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“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에너지를 얼마나 줄지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”, “splicing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쓸지 말지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”, “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어떤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mutation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연산자를 더 자주 쓸지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”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등 여러 선택지를 추가해서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정책이 더 미세하게 전략을 조절할 수 있도록 하기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RL</a:t>
            </a:r>
            <a:r>
              <a:rPr lang="ko-KR" altLang="en-US" sz="2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이 개입하는 단위를 바꾸기</a:t>
            </a:r>
            <a:endParaRPr lang="en-US" altLang="ko-KR" sz="2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per-mutation-step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이나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고르는 단계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(schedule)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쪽으로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RL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옮겨서 “어떤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 언제 쓸지”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“어느 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seed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에 에너지를 더 줄지” 같은 쪽을 학습하게 만들면 영향력이 훨씬 커질 수 있음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buNone/>
            </a:pP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F204C18-B307-1CA0-16AD-907306BE1BC5}"/>
              </a:ext>
            </a:extLst>
          </p:cNvPr>
          <p:cNvSpPr txBox="1">
            <a:spLocks/>
          </p:cNvSpPr>
          <p:nvPr/>
        </p:nvSpPr>
        <p:spPr>
          <a:xfrm>
            <a:off x="265176" y="274002"/>
            <a:ext cx="10515600" cy="671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12. </a:t>
            </a:r>
            <a:r>
              <a:rPr lang="ko-KR" altLang="en-US" sz="3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보완 및 개선사항</a:t>
            </a:r>
          </a:p>
        </p:txBody>
      </p:sp>
    </p:spTree>
    <p:extLst>
      <p:ext uri="{BB962C8B-B14F-4D97-AF65-F5344CB8AC3E}">
        <p14:creationId xmlns:p14="http://schemas.microsoft.com/office/powerpoint/2010/main" val="1123272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2917</Words>
  <Application>Microsoft Office PowerPoint</Application>
  <PresentationFormat>와이드스크린</PresentationFormat>
  <Paragraphs>327</Paragraphs>
  <Slides>31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0" baseType="lpstr">
      <vt:lpstr>KoPub돋움체 Light</vt:lpstr>
      <vt:lpstr>Noto Sans KR DemiLight</vt:lpstr>
      <vt:lpstr>Noto Sans KR ExtraBold</vt:lpstr>
      <vt:lpstr>Noto Sans KR Medium</vt:lpstr>
      <vt:lpstr>Noto Sans KR SemiBold</vt:lpstr>
      <vt:lpstr>맑은 고딕</vt:lpstr>
      <vt:lpstr>Arial</vt:lpstr>
      <vt:lpstr>Wingdings</vt:lpstr>
      <vt:lpstr>Office 테마</vt:lpstr>
      <vt:lpstr>강화학습개론 프로젝트</vt:lpstr>
      <vt:lpstr>1. 프로젝트 주제 및 목표</vt:lpstr>
      <vt:lpstr>PowerPoint 프레젠테이션</vt:lpstr>
      <vt:lpstr>PowerPoint 프레젠테이션</vt:lpstr>
      <vt:lpstr>PowerPoint 프레젠테이션</vt:lpstr>
      <vt:lpstr>왜 PPO를 AFL에 적용했는가?</vt:lpstr>
      <vt:lpstr>PowerPoint 프레젠테이션</vt:lpstr>
      <vt:lpstr>2. 설계 (AFL-PPO 시스템 구조)</vt:lpstr>
      <vt:lpstr>2. 설계 (PPO 네트워크 구조)</vt:lpstr>
      <vt:lpstr>3. 구현 (AFL 내부 수정 핵심)</vt:lpstr>
      <vt:lpstr>3. 구현 (PPO 서버)</vt:lpstr>
      <vt:lpstr>4. 실험환경</vt:lpstr>
      <vt:lpstr>5. State / Action / Reward</vt:lpstr>
      <vt:lpstr>6. 사용한 강화학습 알고리즘 및 hyperparameter</vt:lpstr>
      <vt:lpstr>7. 실험 setup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전진</dc:creator>
  <cp:lastModifiedBy>전진</cp:lastModifiedBy>
  <cp:revision>3</cp:revision>
  <dcterms:created xsi:type="dcterms:W3CDTF">2025-12-06T17:22:20Z</dcterms:created>
  <dcterms:modified xsi:type="dcterms:W3CDTF">2025-12-07T11:23:43Z</dcterms:modified>
</cp:coreProperties>
</file>